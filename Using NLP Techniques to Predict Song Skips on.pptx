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25" r:id="rId1"/>
  </p:sldMasterIdLst>
  <p:sldIdLst>
    <p:sldId id="256" r:id="rId2"/>
    <p:sldId id="257" r:id="rId3"/>
    <p:sldId id="258" r:id="rId4"/>
    <p:sldId id="263" r:id="rId5"/>
    <p:sldId id="260" r:id="rId6"/>
    <p:sldId id="261" r:id="rId7"/>
    <p:sldId id="262" r:id="rId8"/>
    <p:sldId id="266"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lka Roy" initials="AR" lastIdx="1" clrIdx="0">
    <p:extLst>
      <p:ext uri="{19B8F6BF-5375-455C-9EA6-DF929625EA0E}">
        <p15:presenceInfo xmlns:p15="http://schemas.microsoft.com/office/powerpoint/2012/main" userId="391359153f98d04e"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203B62CA-07A3-4E53-9D66-3574E4E95CC6}" type="datetimeFigureOut">
              <a:rPr lang="en-IN" smtClean="0"/>
              <a:t>04-10-2021</a:t>
            </a:fld>
            <a:endParaRPr lang="en-IN"/>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IN"/>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BDE1AAF5-B093-40AD-A825-E3367A92ED40}" type="slidenum">
              <a:rPr lang="en-IN" smtClean="0"/>
              <a:t>‹#›</a:t>
            </a:fld>
            <a:endParaRPr lang="en-IN"/>
          </a:p>
        </p:txBody>
      </p:sp>
    </p:spTree>
    <p:extLst>
      <p:ext uri="{BB962C8B-B14F-4D97-AF65-F5344CB8AC3E}">
        <p14:creationId xmlns:p14="http://schemas.microsoft.com/office/powerpoint/2010/main" val="15877214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03B62CA-07A3-4E53-9D66-3574E4E95CC6}" type="datetimeFigureOut">
              <a:rPr lang="en-IN" smtClean="0"/>
              <a:t>04-10-2021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DE1AAF5-B093-40AD-A825-E3367A92ED40}" type="slidenum">
              <a:rPr lang="en-IN" smtClean="0"/>
              <a:t>‹#›</a:t>
            </a:fld>
            <a:endParaRPr lang="en-IN"/>
          </a:p>
        </p:txBody>
      </p:sp>
    </p:spTree>
    <p:extLst>
      <p:ext uri="{BB962C8B-B14F-4D97-AF65-F5344CB8AC3E}">
        <p14:creationId xmlns:p14="http://schemas.microsoft.com/office/powerpoint/2010/main" val="18683766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03B62CA-07A3-4E53-9D66-3574E4E95CC6}" type="datetimeFigureOut">
              <a:rPr lang="en-IN" smtClean="0"/>
              <a:t>04-10-2021</a:t>
            </a:fld>
            <a:endParaRPr lang="en-IN"/>
          </a:p>
        </p:txBody>
      </p:sp>
      <p:sp>
        <p:nvSpPr>
          <p:cNvPr id="5" name="Footer Placeholder 4"/>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DE1AAF5-B093-40AD-A825-E3367A92ED40}" type="slidenum">
              <a:rPr lang="en-IN" smtClean="0"/>
              <a:t>‹#›</a:t>
            </a:fld>
            <a:endParaRPr lang="en-IN"/>
          </a:p>
        </p:txBody>
      </p:sp>
    </p:spTree>
    <p:extLst>
      <p:ext uri="{BB962C8B-B14F-4D97-AF65-F5344CB8AC3E}">
        <p14:creationId xmlns:p14="http://schemas.microsoft.com/office/powerpoint/2010/main" val="24924871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03B62CA-07A3-4E53-9D66-3574E4E95CC6}" type="datetimeFigureOut">
              <a:rPr lang="en-IN" smtClean="0"/>
              <a:t>04-10-2021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DE1AAF5-B093-40AD-A825-E3367A92ED40}" type="slidenum">
              <a:rPr lang="en-IN" smtClean="0"/>
              <a:t>‹#›</a:t>
            </a:fld>
            <a:endParaRPr lang="en-IN"/>
          </a:p>
        </p:txBody>
      </p:sp>
    </p:spTree>
    <p:extLst>
      <p:ext uri="{BB962C8B-B14F-4D97-AF65-F5344CB8AC3E}">
        <p14:creationId xmlns:p14="http://schemas.microsoft.com/office/powerpoint/2010/main" val="14709070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03B62CA-07A3-4E53-9D66-3574E4E95CC6}" type="datetimeFigureOut">
              <a:rPr lang="en-IN" smtClean="0"/>
              <a:t>04-10-2021</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DE1AAF5-B093-40AD-A825-E3367A92ED40}" type="slidenum">
              <a:rPr lang="en-IN" smtClean="0"/>
              <a:t>‹#›</a:t>
            </a:fld>
            <a:endParaRPr lang="en-IN"/>
          </a:p>
        </p:txBody>
      </p:sp>
    </p:spTree>
    <p:extLst>
      <p:ext uri="{BB962C8B-B14F-4D97-AF65-F5344CB8AC3E}">
        <p14:creationId xmlns:p14="http://schemas.microsoft.com/office/powerpoint/2010/main" val="9070854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03B62CA-07A3-4E53-9D66-3574E4E95CC6}" type="datetimeFigureOut">
              <a:rPr lang="en-IN" smtClean="0"/>
              <a:t>04-10-2021</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DE1AAF5-B093-40AD-A825-E3367A92ED40}" type="slidenum">
              <a:rPr lang="en-IN" smtClean="0"/>
              <a:t>‹#›</a:t>
            </a:fld>
            <a:endParaRPr lang="en-IN"/>
          </a:p>
        </p:txBody>
      </p:sp>
    </p:spTree>
    <p:extLst>
      <p:ext uri="{BB962C8B-B14F-4D97-AF65-F5344CB8AC3E}">
        <p14:creationId xmlns:p14="http://schemas.microsoft.com/office/powerpoint/2010/main" val="31670744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03B62CA-07A3-4E53-9D66-3574E4E95CC6}" type="datetimeFigureOut">
              <a:rPr lang="en-IN" smtClean="0"/>
              <a:t>04-10-2021</a:t>
            </a:fld>
            <a:endParaRPr lang="en-IN"/>
          </a:p>
        </p:txBody>
      </p:sp>
      <p:sp>
        <p:nvSpPr>
          <p:cNvPr id="3" name="Footer Placeholder 2"/>
          <p:cNvSpPr>
            <a:spLocks noGrp="1"/>
          </p:cNvSpPr>
          <p:nvPr>
            <p:ph type="ftr" sz="quarter" idx="11"/>
          </p:nvPr>
        </p:nvSpPr>
        <p:spPr/>
        <p:txBody>
          <a:bodyPr/>
          <a:lstStyle/>
          <a:p>
            <a:endParaRPr lang="en-IN"/>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BDE1AAF5-B093-40AD-A825-E3367A92ED40}" type="slidenum">
              <a:rPr lang="en-IN" smtClean="0"/>
              <a:t>‹#›</a:t>
            </a:fld>
            <a:endParaRPr lang="en-IN"/>
          </a:p>
        </p:txBody>
      </p:sp>
    </p:spTree>
    <p:extLst>
      <p:ext uri="{BB962C8B-B14F-4D97-AF65-F5344CB8AC3E}">
        <p14:creationId xmlns:p14="http://schemas.microsoft.com/office/powerpoint/2010/main" val="29344515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03B62CA-07A3-4E53-9D66-3574E4E95CC6}" type="datetimeFigureOut">
              <a:rPr lang="en-IN" smtClean="0"/>
              <a:t>04-10-2021</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BDE1AAF5-B093-40AD-A825-E3367A92ED40}" type="slidenum">
              <a:rPr lang="en-IN" smtClean="0"/>
              <a:t>‹#›</a:t>
            </a:fld>
            <a:endParaRPr lang="en-IN"/>
          </a:p>
        </p:txBody>
      </p:sp>
    </p:spTree>
    <p:extLst>
      <p:ext uri="{BB962C8B-B14F-4D97-AF65-F5344CB8AC3E}">
        <p14:creationId xmlns:p14="http://schemas.microsoft.com/office/powerpoint/2010/main" val="39396405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03B62CA-07A3-4E53-9D66-3574E4E95CC6}" type="datetimeFigureOut">
              <a:rPr lang="en-IN" smtClean="0"/>
              <a:t>04-10-2021</a:t>
            </a:fld>
            <a:endParaRPr lang="en-IN"/>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BDE1AAF5-B093-40AD-A825-E3367A92ED40}" type="slidenum">
              <a:rPr lang="en-IN" smtClean="0"/>
              <a:t>‹#›</a:t>
            </a:fld>
            <a:endParaRPr lang="en-IN"/>
          </a:p>
        </p:txBody>
      </p:sp>
    </p:spTree>
    <p:extLst>
      <p:ext uri="{BB962C8B-B14F-4D97-AF65-F5344CB8AC3E}">
        <p14:creationId xmlns:p14="http://schemas.microsoft.com/office/powerpoint/2010/main" val="8140861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03B62CA-07A3-4E53-9D66-3574E4E95CC6}" type="datetimeFigureOut">
              <a:rPr lang="en-IN" smtClean="0"/>
              <a:t>04-10-2021</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BDE1AAF5-B093-40AD-A825-E3367A92ED40}" type="slidenum">
              <a:rPr lang="en-IN" smtClean="0"/>
              <a:t>‹#›</a:t>
            </a:fld>
            <a:endParaRPr lang="en-IN"/>
          </a:p>
        </p:txBody>
      </p:sp>
    </p:spTree>
    <p:extLst>
      <p:ext uri="{BB962C8B-B14F-4D97-AF65-F5344CB8AC3E}">
        <p14:creationId xmlns:p14="http://schemas.microsoft.com/office/powerpoint/2010/main" val="8590917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203B62CA-07A3-4E53-9D66-3574E4E95CC6}" type="datetimeFigureOut">
              <a:rPr lang="en-IN" smtClean="0"/>
              <a:t>04-10-2021</a:t>
            </a:fld>
            <a:endParaRPr lang="en-IN"/>
          </a:p>
        </p:txBody>
      </p:sp>
      <p:sp>
        <p:nvSpPr>
          <p:cNvPr id="5" name="Footer Placeholder 4"/>
          <p:cNvSpPr>
            <a:spLocks noGrp="1"/>
          </p:cNvSpPr>
          <p:nvPr>
            <p:ph type="ftr" sz="quarter" idx="11"/>
          </p:nvPr>
        </p:nvSpPr>
        <p:spPr/>
        <p:txBody>
          <a:bodyPr/>
          <a:lstStyle/>
          <a:p>
            <a:endParaRPr lang="en-IN"/>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DE1AAF5-B093-40AD-A825-E3367A92ED40}" type="slidenum">
              <a:rPr lang="en-IN" smtClean="0"/>
              <a:t>‹#›</a:t>
            </a:fld>
            <a:endParaRPr lang="en-IN"/>
          </a:p>
        </p:txBody>
      </p:sp>
    </p:spTree>
    <p:extLst>
      <p:ext uri="{BB962C8B-B14F-4D97-AF65-F5344CB8AC3E}">
        <p14:creationId xmlns:p14="http://schemas.microsoft.com/office/powerpoint/2010/main" val="41613362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203B62CA-07A3-4E53-9D66-3574E4E95CC6}" type="datetimeFigureOut">
              <a:rPr lang="en-IN" smtClean="0"/>
              <a:t>04-10-2021</a:t>
            </a:fld>
            <a:endParaRPr lang="en-IN"/>
          </a:p>
        </p:txBody>
      </p:sp>
      <p:sp>
        <p:nvSpPr>
          <p:cNvPr id="5" name="Footer Placeholder 4"/>
          <p:cNvSpPr>
            <a:spLocks noGrp="1"/>
          </p:cNvSpPr>
          <p:nvPr>
            <p:ph type="ftr" sz="quarter" idx="11"/>
          </p:nvPr>
        </p:nvSpPr>
        <p:spPr/>
        <p:txBody>
          <a:bodyPr/>
          <a:lstStyle/>
          <a:p>
            <a:endParaRPr lang="en-IN"/>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DE1AAF5-B093-40AD-A825-E3367A92ED40}" type="slidenum">
              <a:rPr lang="en-IN" smtClean="0"/>
              <a:t>‹#›</a:t>
            </a:fld>
            <a:endParaRPr lang="en-IN"/>
          </a:p>
        </p:txBody>
      </p:sp>
    </p:spTree>
    <p:extLst>
      <p:ext uri="{BB962C8B-B14F-4D97-AF65-F5344CB8AC3E}">
        <p14:creationId xmlns:p14="http://schemas.microsoft.com/office/powerpoint/2010/main" val="22726416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03B62CA-07A3-4E53-9D66-3574E4E95CC6}" type="datetimeFigureOut">
              <a:rPr lang="en-IN" smtClean="0"/>
              <a:t>04-10-2021</a:t>
            </a:fld>
            <a:endParaRPr lang="en-IN"/>
          </a:p>
        </p:txBody>
      </p:sp>
      <p:sp>
        <p:nvSpPr>
          <p:cNvPr id="5" name="Footer Placeholder 4"/>
          <p:cNvSpPr>
            <a:spLocks noGrp="1"/>
          </p:cNvSpPr>
          <p:nvPr>
            <p:ph type="ftr" sz="quarter" idx="11"/>
          </p:nvPr>
        </p:nvSpPr>
        <p:spPr/>
        <p:txBody>
          <a:bodyPr/>
          <a:lstStyle/>
          <a:p>
            <a:endParaRPr lang="en-IN"/>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DE1AAF5-B093-40AD-A825-E3367A92ED40}" type="slidenum">
              <a:rPr lang="en-IN" smtClean="0"/>
              <a:t>‹#›</a:t>
            </a:fld>
            <a:endParaRPr lang="en-IN"/>
          </a:p>
        </p:txBody>
      </p:sp>
    </p:spTree>
    <p:extLst>
      <p:ext uri="{BB962C8B-B14F-4D97-AF65-F5344CB8AC3E}">
        <p14:creationId xmlns:p14="http://schemas.microsoft.com/office/powerpoint/2010/main" val="11959045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203B62CA-07A3-4E53-9D66-3574E4E95CC6}" type="datetimeFigureOut">
              <a:rPr lang="en-IN" smtClean="0"/>
              <a:t>04-10-2021</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DE1AAF5-B093-40AD-A825-E3367A92ED40}" type="slidenum">
              <a:rPr lang="en-IN" smtClean="0"/>
              <a:t>‹#›</a:t>
            </a:fld>
            <a:endParaRPr lang="en-IN"/>
          </a:p>
        </p:txBody>
      </p:sp>
    </p:spTree>
    <p:extLst>
      <p:ext uri="{BB962C8B-B14F-4D97-AF65-F5344CB8AC3E}">
        <p14:creationId xmlns:p14="http://schemas.microsoft.com/office/powerpoint/2010/main" val="28088530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203B62CA-07A3-4E53-9D66-3574E4E95CC6}" type="datetimeFigureOut">
              <a:rPr lang="en-IN" smtClean="0"/>
              <a:t>04-10-2021</a:t>
            </a:fld>
            <a:endParaRPr lang="en-IN"/>
          </a:p>
        </p:txBody>
      </p:sp>
      <p:sp>
        <p:nvSpPr>
          <p:cNvPr id="8" name="Footer Placeholder 7"/>
          <p:cNvSpPr>
            <a:spLocks noGrp="1"/>
          </p:cNvSpPr>
          <p:nvPr>
            <p:ph type="ftr" sz="quarter" idx="11"/>
          </p:nvPr>
        </p:nvSpPr>
        <p:spPr>
          <a:xfrm>
            <a:off x="561111" y="6391838"/>
            <a:ext cx="3644282" cy="304801"/>
          </a:xfrm>
        </p:spPr>
        <p:txBody>
          <a:bodyPr/>
          <a:lstStyle/>
          <a:p>
            <a:endParaRPr lang="en-IN"/>
          </a:p>
        </p:txBody>
      </p:sp>
      <p:sp>
        <p:nvSpPr>
          <p:cNvPr id="9" name="Slide Number Placeholder 8"/>
          <p:cNvSpPr>
            <a:spLocks noGrp="1"/>
          </p:cNvSpPr>
          <p:nvPr>
            <p:ph type="sldNum" sz="quarter" idx="12"/>
          </p:nvPr>
        </p:nvSpPr>
        <p:spPr/>
        <p:txBody>
          <a:bodyPr/>
          <a:lstStyle/>
          <a:p>
            <a:fld id="{BDE1AAF5-B093-40AD-A825-E3367A92ED40}" type="slidenum">
              <a:rPr lang="en-IN" smtClean="0"/>
              <a:t>‹#›</a:t>
            </a:fld>
            <a:endParaRPr lang="en-IN"/>
          </a:p>
        </p:txBody>
      </p:sp>
    </p:spTree>
    <p:extLst>
      <p:ext uri="{BB962C8B-B14F-4D97-AF65-F5344CB8AC3E}">
        <p14:creationId xmlns:p14="http://schemas.microsoft.com/office/powerpoint/2010/main" val="1926718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203B62CA-07A3-4E53-9D66-3574E4E95CC6}" type="datetimeFigureOut">
              <a:rPr lang="en-IN" smtClean="0"/>
              <a:t>04-10-2021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DE1AAF5-B093-40AD-A825-E3367A92ED40}" type="slidenum">
              <a:rPr lang="en-IN" smtClean="0"/>
              <a:t>‹#›</a:t>
            </a:fld>
            <a:endParaRPr lang="en-IN"/>
          </a:p>
        </p:txBody>
      </p:sp>
    </p:spTree>
    <p:extLst>
      <p:ext uri="{BB962C8B-B14F-4D97-AF65-F5344CB8AC3E}">
        <p14:creationId xmlns:p14="http://schemas.microsoft.com/office/powerpoint/2010/main" val="13252015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203B62CA-07A3-4E53-9D66-3574E4E95CC6}" type="datetimeFigureOut">
              <a:rPr lang="en-IN" smtClean="0"/>
              <a:t>04-10-2021</a:t>
            </a:fld>
            <a:endParaRPr lang="en-IN"/>
          </a:p>
        </p:txBody>
      </p:sp>
      <p:sp>
        <p:nvSpPr>
          <p:cNvPr id="5" name="Footer Placeholder 4"/>
          <p:cNvSpPr>
            <a:spLocks noGrp="1"/>
          </p:cNvSpPr>
          <p:nvPr>
            <p:ph type="ftr" sz="quarter" idx="11"/>
          </p:nvPr>
        </p:nvSpPr>
        <p:spPr/>
        <p:txBody>
          <a:bodyPr/>
          <a:lstStyle/>
          <a:p>
            <a:endParaRPr lang="en-IN"/>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DE1AAF5-B093-40AD-A825-E3367A92ED40}" type="slidenum">
              <a:rPr lang="en-IN" smtClean="0"/>
              <a:t>‹#›</a:t>
            </a:fld>
            <a:endParaRPr lang="en-IN"/>
          </a:p>
        </p:txBody>
      </p:sp>
    </p:spTree>
    <p:extLst>
      <p:ext uri="{BB962C8B-B14F-4D97-AF65-F5344CB8AC3E}">
        <p14:creationId xmlns:p14="http://schemas.microsoft.com/office/powerpoint/2010/main" val="22899681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203B62CA-07A3-4E53-9D66-3574E4E95CC6}" type="datetimeFigureOut">
              <a:rPr lang="en-IN" smtClean="0"/>
              <a:t>04-10-2021</a:t>
            </a:fld>
            <a:endParaRPr lang="en-IN"/>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IN"/>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BDE1AAF5-B093-40AD-A825-E3367A92ED40}" type="slidenum">
              <a:rPr lang="en-IN" smtClean="0"/>
              <a:t>‹#›</a:t>
            </a:fld>
            <a:endParaRPr lang="en-IN"/>
          </a:p>
        </p:txBody>
      </p:sp>
    </p:spTree>
    <p:extLst>
      <p:ext uri="{BB962C8B-B14F-4D97-AF65-F5344CB8AC3E}">
        <p14:creationId xmlns:p14="http://schemas.microsoft.com/office/powerpoint/2010/main" val="89893256"/>
      </p:ext>
    </p:extLst>
  </p:cSld>
  <p:clrMap bg1="lt1" tx1="dk1" bg2="lt2" tx2="dk2" accent1="accent1" accent2="accent2" accent3="accent3" accent4="accent4" accent5="accent5" accent6="accent6" hlink="hlink" folHlink="folHlink"/>
  <p:sldLayoutIdLst>
    <p:sldLayoutId id="2147484126" r:id="rId1"/>
    <p:sldLayoutId id="2147484127" r:id="rId2"/>
    <p:sldLayoutId id="2147484128" r:id="rId3"/>
    <p:sldLayoutId id="2147484129" r:id="rId4"/>
    <p:sldLayoutId id="2147484130" r:id="rId5"/>
    <p:sldLayoutId id="2147484131" r:id="rId6"/>
    <p:sldLayoutId id="2147484132" r:id="rId7"/>
    <p:sldLayoutId id="2147484133" r:id="rId8"/>
    <p:sldLayoutId id="2147484134" r:id="rId9"/>
    <p:sldLayoutId id="2147484135" r:id="rId10"/>
    <p:sldLayoutId id="2147484136" r:id="rId11"/>
    <p:sldLayoutId id="2147484137" r:id="rId12"/>
    <p:sldLayoutId id="2147484138" r:id="rId13"/>
    <p:sldLayoutId id="2147484139" r:id="rId14"/>
    <p:sldLayoutId id="2147484140" r:id="rId15"/>
    <p:sldLayoutId id="2147484141" r:id="rId16"/>
    <p:sldLayoutId id="2147484142"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2">
                <a:lumMod val="0"/>
                <a:lumOff val="100000"/>
              </a:schemeClr>
            </a:gs>
            <a:gs pos="100000">
              <a:schemeClr val="accent2">
                <a:lumMod val="0"/>
                <a:lumOff val="100000"/>
              </a:schemeClr>
            </a:gs>
            <a:gs pos="100000">
              <a:schemeClr val="accent2">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4DFDB-2022-484A-844A-5ED71C80F321}"/>
              </a:ext>
            </a:extLst>
          </p:cNvPr>
          <p:cNvSpPr>
            <a:spLocks noGrp="1"/>
          </p:cNvSpPr>
          <p:nvPr>
            <p:ph type="title"/>
          </p:nvPr>
        </p:nvSpPr>
        <p:spPr>
          <a:xfrm>
            <a:off x="1598899" y="1265768"/>
            <a:ext cx="8331592" cy="1855304"/>
          </a:xfrm>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p:spPr>
        <p:txBody>
          <a:bodyPr anchor="t">
            <a:noAutofit/>
          </a:bodyPr>
          <a:lstStyle/>
          <a:p>
            <a:r>
              <a:rPr lang="en-US" sz="3500" dirty="0">
                <a:solidFill>
                  <a:schemeClr val="tx1"/>
                </a:solidFill>
              </a:rPr>
              <a:t>Using NLP Techniques to Predict Song Skips on Spotify based on Sequential User and Acoustic Data</a:t>
            </a:r>
            <a:endParaRPr lang="en-IN" sz="3500" dirty="0">
              <a:solidFill>
                <a:schemeClr val="tx1"/>
              </a:solidFill>
            </a:endParaRPr>
          </a:p>
        </p:txBody>
      </p:sp>
      <p:sp>
        <p:nvSpPr>
          <p:cNvPr id="4" name="Text Placeholder 3">
            <a:extLst>
              <a:ext uri="{FF2B5EF4-FFF2-40B4-BE49-F238E27FC236}">
                <a16:creationId xmlns:a16="http://schemas.microsoft.com/office/drawing/2014/main" id="{F60DC8F7-A2C5-4F56-9BB8-141B63DC0F02}"/>
              </a:ext>
            </a:extLst>
          </p:cNvPr>
          <p:cNvSpPr>
            <a:spLocks noGrp="1"/>
          </p:cNvSpPr>
          <p:nvPr>
            <p:ph type="body" sz="half" idx="13"/>
          </p:nvPr>
        </p:nvSpPr>
        <p:spPr>
          <a:xfrm>
            <a:off x="2261508" y="3736928"/>
            <a:ext cx="7668983" cy="312303"/>
          </a:xfrm>
          <a:noFill/>
        </p:spPr>
        <p:txBody>
          <a:bodyPr>
            <a:noAutofit/>
          </a:bodyPr>
          <a:lstStyle/>
          <a:p>
            <a:pPr algn="r"/>
            <a:r>
              <a:rPr lang="en-US" sz="2000" dirty="0">
                <a:solidFill>
                  <a:schemeClr val="bg1"/>
                </a:solidFill>
              </a:rPr>
              <a:t>ALKA ROY</a:t>
            </a:r>
            <a:endParaRPr lang="en-IN" sz="2000" dirty="0">
              <a:solidFill>
                <a:schemeClr val="bg1"/>
              </a:solidFill>
            </a:endParaRPr>
          </a:p>
        </p:txBody>
      </p:sp>
    </p:spTree>
    <p:extLst>
      <p:ext uri="{BB962C8B-B14F-4D97-AF65-F5344CB8AC3E}">
        <p14:creationId xmlns:p14="http://schemas.microsoft.com/office/powerpoint/2010/main" val="9972124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4BA545-39BE-425E-8384-4BE425DBF6A2}"/>
              </a:ext>
            </a:extLst>
          </p:cNvPr>
          <p:cNvSpPr>
            <a:spLocks noGrp="1"/>
          </p:cNvSpPr>
          <p:nvPr>
            <p:ph type="title"/>
          </p:nvPr>
        </p:nvSpPr>
        <p:spPr/>
        <p:txBody>
          <a:bodyPr/>
          <a:lstStyle/>
          <a:p>
            <a:r>
              <a:rPr lang="en-IN" dirty="0"/>
              <a:t>INTRODUCTION</a:t>
            </a:r>
          </a:p>
        </p:txBody>
      </p:sp>
      <p:sp>
        <p:nvSpPr>
          <p:cNvPr id="3" name="Content Placeholder 2">
            <a:extLst>
              <a:ext uri="{FF2B5EF4-FFF2-40B4-BE49-F238E27FC236}">
                <a16:creationId xmlns:a16="http://schemas.microsoft.com/office/drawing/2014/main" id="{02C3194B-1008-4437-9F95-AC25D659FCA0}"/>
              </a:ext>
            </a:extLst>
          </p:cNvPr>
          <p:cNvSpPr>
            <a:spLocks noGrp="1"/>
          </p:cNvSpPr>
          <p:nvPr>
            <p:ph idx="1"/>
          </p:nvPr>
        </p:nvSpPr>
        <p:spPr/>
        <p:txBody>
          <a:bodyPr/>
          <a:lstStyle/>
          <a:p>
            <a:r>
              <a:rPr lang="en-US" dirty="0"/>
              <a:t>Music consumption habits have changed dramatically with the rise of streaming services like Spotify, Apple Music, and Tidal. </a:t>
            </a:r>
          </a:p>
          <a:p>
            <a:r>
              <a:rPr lang="en-US" dirty="0"/>
              <a:t>The skip button plays a large role in the user’s experience, as they are free to abandon songs as they choose. Music providers are also incentivized to recommend songs that their users like in order to increase user experience and time spent on the platform. </a:t>
            </a:r>
          </a:p>
          <a:p>
            <a:r>
              <a:rPr lang="en-US" dirty="0"/>
              <a:t>Machine learning in the context of music often uses recommender system. There hasn’t been much research on how a user’s interaction with music over time can help recommend music to the user. </a:t>
            </a:r>
            <a:endParaRPr lang="en-IN" dirty="0"/>
          </a:p>
        </p:txBody>
      </p:sp>
    </p:spTree>
    <p:extLst>
      <p:ext uri="{BB962C8B-B14F-4D97-AF65-F5344CB8AC3E}">
        <p14:creationId xmlns:p14="http://schemas.microsoft.com/office/powerpoint/2010/main" val="13843640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07708-8933-4683-8A77-C980B0FC6D37}"/>
              </a:ext>
            </a:extLst>
          </p:cNvPr>
          <p:cNvSpPr>
            <a:spLocks noGrp="1"/>
          </p:cNvSpPr>
          <p:nvPr>
            <p:ph type="title"/>
          </p:nvPr>
        </p:nvSpPr>
        <p:spPr/>
        <p:txBody>
          <a:bodyPr/>
          <a:lstStyle/>
          <a:p>
            <a:r>
              <a:rPr lang="en-IN" dirty="0"/>
              <a:t>Dataset</a:t>
            </a:r>
          </a:p>
        </p:txBody>
      </p:sp>
      <p:sp>
        <p:nvSpPr>
          <p:cNvPr id="15" name="Content Placeholder 14">
            <a:extLst>
              <a:ext uri="{FF2B5EF4-FFF2-40B4-BE49-F238E27FC236}">
                <a16:creationId xmlns:a16="http://schemas.microsoft.com/office/drawing/2014/main" id="{BE61BD89-ECC7-46B4-9760-F9C18D189C60}"/>
              </a:ext>
            </a:extLst>
          </p:cNvPr>
          <p:cNvSpPr>
            <a:spLocks noGrp="1"/>
          </p:cNvSpPr>
          <p:nvPr>
            <p:ph idx="1"/>
          </p:nvPr>
        </p:nvSpPr>
        <p:spPr>
          <a:xfrm>
            <a:off x="6096000" y="2187081"/>
            <a:ext cx="5338275" cy="2153216"/>
          </a:xfrm>
        </p:spPr>
        <p:txBody>
          <a:bodyPr>
            <a:normAutofit/>
          </a:bodyPr>
          <a:lstStyle/>
          <a:p>
            <a:endParaRPr lang="en-US" dirty="0"/>
          </a:p>
          <a:p>
            <a:r>
              <a:rPr lang="en-US" dirty="0"/>
              <a:t>Spotify Sequential Skip Prediction dataset, consisting of roughly 130 million listening sessions with associated user behaviors.</a:t>
            </a:r>
          </a:p>
          <a:p>
            <a:r>
              <a:rPr lang="en-US" dirty="0"/>
              <a:t>Each session consists of multiple music tracks (songs, podcasts, etc.).</a:t>
            </a:r>
          </a:p>
        </p:txBody>
      </p:sp>
      <p:pic>
        <p:nvPicPr>
          <p:cNvPr id="17" name="Picture 16">
            <a:extLst>
              <a:ext uri="{FF2B5EF4-FFF2-40B4-BE49-F238E27FC236}">
                <a16:creationId xmlns:a16="http://schemas.microsoft.com/office/drawing/2014/main" id="{91C50A4A-B13D-449A-8A00-9625E61D82EB}"/>
              </a:ext>
            </a:extLst>
          </p:cNvPr>
          <p:cNvPicPr>
            <a:picLocks noChangeAspect="1"/>
          </p:cNvPicPr>
          <p:nvPr/>
        </p:nvPicPr>
        <p:blipFill>
          <a:blip r:embed="rId2"/>
          <a:stretch>
            <a:fillRect/>
          </a:stretch>
        </p:blipFill>
        <p:spPr>
          <a:xfrm>
            <a:off x="661697" y="2816203"/>
            <a:ext cx="5076495" cy="3378809"/>
          </a:xfrm>
          <a:prstGeom prst="rect">
            <a:avLst/>
          </a:prstGeom>
        </p:spPr>
      </p:pic>
      <p:graphicFrame>
        <p:nvGraphicFramePr>
          <p:cNvPr id="20" name="Table 20">
            <a:extLst>
              <a:ext uri="{FF2B5EF4-FFF2-40B4-BE49-F238E27FC236}">
                <a16:creationId xmlns:a16="http://schemas.microsoft.com/office/drawing/2014/main" id="{8E94B4EC-8A24-498A-8860-6437AA0061D2}"/>
              </a:ext>
            </a:extLst>
          </p:cNvPr>
          <p:cNvGraphicFramePr>
            <a:graphicFrameLocks noGrp="1"/>
          </p:cNvGraphicFramePr>
          <p:nvPr>
            <p:extLst>
              <p:ext uri="{D42A27DB-BD31-4B8C-83A1-F6EECF244321}">
                <p14:modId xmlns:p14="http://schemas.microsoft.com/office/powerpoint/2010/main" val="2616047348"/>
              </p:ext>
            </p:extLst>
          </p:nvPr>
        </p:nvGraphicFramePr>
        <p:xfrm>
          <a:off x="6096000" y="5503704"/>
          <a:ext cx="5076497" cy="892552"/>
        </p:xfrm>
        <a:graphic>
          <a:graphicData uri="http://schemas.openxmlformats.org/drawingml/2006/table">
            <a:tbl>
              <a:tblPr firstRow="1" bandRow="1">
                <a:tableStyleId>{5C22544A-7EE6-4342-B048-85BDC9FD1C3A}</a:tableStyleId>
              </a:tblPr>
              <a:tblGrid>
                <a:gridCol w="5076497">
                  <a:extLst>
                    <a:ext uri="{9D8B030D-6E8A-4147-A177-3AD203B41FA5}">
                      <a16:colId xmlns:a16="http://schemas.microsoft.com/office/drawing/2014/main" val="1626159345"/>
                    </a:ext>
                  </a:extLst>
                </a:gridCol>
              </a:tblGrid>
              <a:tr h="892552">
                <a:tc>
                  <a:txBody>
                    <a:bodyPr/>
                    <a:lstStyle/>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lang="en-US" sz="1600" dirty="0">
                          <a:solidFill>
                            <a:schemeClr val="tx1"/>
                          </a:solidFill>
                        </a:rPr>
                        <a:t>Testing Set contains: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600" dirty="0">
                        <a:solidFill>
                          <a:schemeClr val="tx1"/>
                        </a:solidFill>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                  Only track ids (acoustic features)</a:t>
                      </a:r>
                      <a:endParaRPr lang="en-IN" dirty="0"/>
                    </a:p>
                  </a:txBody>
                  <a:tcPr>
                    <a:solidFill>
                      <a:schemeClr val="bg1"/>
                    </a:solidFill>
                  </a:tcPr>
                </a:tc>
                <a:extLst>
                  <a:ext uri="{0D108BD9-81ED-4DB2-BD59-A6C34878D82A}">
                    <a16:rowId xmlns:a16="http://schemas.microsoft.com/office/drawing/2014/main" val="333981077"/>
                  </a:ext>
                </a:extLst>
              </a:tr>
            </a:tbl>
          </a:graphicData>
        </a:graphic>
      </p:graphicFrame>
      <p:sp>
        <p:nvSpPr>
          <p:cNvPr id="3" name="Rectangle 2">
            <a:extLst>
              <a:ext uri="{FF2B5EF4-FFF2-40B4-BE49-F238E27FC236}">
                <a16:creationId xmlns:a16="http://schemas.microsoft.com/office/drawing/2014/main" id="{74920A93-71BF-4531-834B-5ADA3D8A06A1}"/>
              </a:ext>
            </a:extLst>
          </p:cNvPr>
          <p:cNvSpPr/>
          <p:nvPr/>
        </p:nvSpPr>
        <p:spPr>
          <a:xfrm>
            <a:off x="6096000" y="4505607"/>
            <a:ext cx="6096000" cy="892552"/>
          </a:xfrm>
          <a:prstGeom prst="rect">
            <a:avLst/>
          </a:prstGeom>
        </p:spPr>
        <p:txBody>
          <a:bodyPr wrap="square">
            <a:spAutoFit/>
          </a:bodyPr>
          <a:lstStyle/>
          <a:p>
            <a:pPr marL="285750" indent="-285750">
              <a:buFont typeface="Wingdings" panose="05000000000000000000" pitchFamily="2" charset="2"/>
              <a:buChar char="q"/>
            </a:pPr>
            <a:r>
              <a:rPr lang="en-US" sz="1600" b="1" dirty="0"/>
              <a:t>Training Set contains: </a:t>
            </a:r>
          </a:p>
          <a:p>
            <a:pPr lvl="0">
              <a:defRPr/>
            </a:pPr>
            <a:endParaRPr lang="en-US" dirty="0"/>
          </a:p>
          <a:p>
            <a:pPr lvl="0">
              <a:defRPr/>
            </a:pPr>
            <a:r>
              <a:rPr lang="en-US" dirty="0"/>
              <a:t>                  </a:t>
            </a:r>
            <a:r>
              <a:rPr lang="en-US" sz="1600" b="1" dirty="0"/>
              <a:t>User interaction features  + acoustic features</a:t>
            </a:r>
            <a:endParaRPr lang="en-IN" sz="1600" b="1" dirty="0"/>
          </a:p>
        </p:txBody>
      </p:sp>
    </p:spTree>
    <p:extLst>
      <p:ext uri="{BB962C8B-B14F-4D97-AF65-F5344CB8AC3E}">
        <p14:creationId xmlns:p14="http://schemas.microsoft.com/office/powerpoint/2010/main" val="21486634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DB4450-DE27-4EC9-92D5-53A195F9CC36}"/>
              </a:ext>
            </a:extLst>
          </p:cNvPr>
          <p:cNvSpPr>
            <a:spLocks noGrp="1"/>
          </p:cNvSpPr>
          <p:nvPr>
            <p:ph type="title"/>
          </p:nvPr>
        </p:nvSpPr>
        <p:spPr/>
        <p:txBody>
          <a:bodyPr/>
          <a:lstStyle/>
          <a:p>
            <a:r>
              <a:rPr lang="en-IN" dirty="0"/>
              <a:t>Pre-processing and Features</a:t>
            </a:r>
          </a:p>
        </p:txBody>
      </p:sp>
      <p:sp>
        <p:nvSpPr>
          <p:cNvPr id="3" name="Content Placeholder 2">
            <a:extLst>
              <a:ext uri="{FF2B5EF4-FFF2-40B4-BE49-F238E27FC236}">
                <a16:creationId xmlns:a16="http://schemas.microsoft.com/office/drawing/2014/main" id="{15AF4A3F-E6B4-46D6-AEEF-2112354C7B8D}"/>
              </a:ext>
            </a:extLst>
          </p:cNvPr>
          <p:cNvSpPr>
            <a:spLocks noGrp="1"/>
          </p:cNvSpPr>
          <p:nvPr>
            <p:ph idx="1"/>
          </p:nvPr>
        </p:nvSpPr>
        <p:spPr>
          <a:xfrm>
            <a:off x="869024" y="2550491"/>
            <a:ext cx="10453951" cy="3943074"/>
          </a:xfrm>
        </p:spPr>
        <p:txBody>
          <a:bodyPr>
            <a:noAutofit/>
          </a:bodyPr>
          <a:lstStyle/>
          <a:p>
            <a:pPr>
              <a:buFont typeface="Wingdings" panose="05000000000000000000" pitchFamily="2" charset="2"/>
              <a:buChar char="q"/>
            </a:pPr>
            <a:r>
              <a:rPr lang="en-US" sz="1600" b="1" dirty="0"/>
              <a:t>Pre-Processing</a:t>
            </a:r>
            <a:r>
              <a:rPr lang="en-US" sz="1600" dirty="0"/>
              <a:t>:</a:t>
            </a:r>
          </a:p>
          <a:p>
            <a:pPr>
              <a:buFont typeface="Wingdings" panose="05000000000000000000" pitchFamily="2" charset="2"/>
              <a:buChar char="Ø"/>
            </a:pPr>
            <a:r>
              <a:rPr lang="en-US" sz="1600" dirty="0"/>
              <a:t>We merge the user behavior and acoustic features for each track using the ‘</a:t>
            </a:r>
            <a:r>
              <a:rPr lang="en-US" sz="1600" i="1" dirty="0"/>
              <a:t>track ids</a:t>
            </a:r>
            <a:r>
              <a:rPr lang="en-US" sz="1600" dirty="0"/>
              <a:t>’. </a:t>
            </a:r>
          </a:p>
          <a:p>
            <a:pPr>
              <a:buFont typeface="Wingdings" panose="05000000000000000000" pitchFamily="2" charset="2"/>
              <a:buChar char="Ø"/>
            </a:pPr>
            <a:r>
              <a:rPr lang="en-US" sz="1600" dirty="0"/>
              <a:t>The categorical features are preprocessed into one-Hot representations and normalized using either (z-score or min/max). </a:t>
            </a:r>
          </a:p>
          <a:p>
            <a:pPr marL="0" indent="0">
              <a:buNone/>
            </a:pPr>
            <a:endParaRPr lang="en-US" sz="1600" dirty="0"/>
          </a:p>
          <a:p>
            <a:pPr>
              <a:buFont typeface="Wingdings" panose="05000000000000000000" pitchFamily="2" charset="2"/>
              <a:buChar char="q"/>
            </a:pPr>
            <a:r>
              <a:rPr lang="en-US" sz="1600" b="1" dirty="0"/>
              <a:t>Features Details: </a:t>
            </a:r>
            <a:endParaRPr lang="en-US" sz="1600" dirty="0"/>
          </a:p>
          <a:p>
            <a:pPr>
              <a:buFont typeface="Wingdings" panose="05000000000000000000" pitchFamily="2" charset="2"/>
              <a:buChar char="Ø"/>
            </a:pPr>
            <a:r>
              <a:rPr lang="en-US" sz="1600" dirty="0"/>
              <a:t>We will be using the Skip Feature to indicate for whether the song was skipped/not skipped.</a:t>
            </a:r>
          </a:p>
          <a:p>
            <a:pPr>
              <a:buFont typeface="Wingdings" panose="05000000000000000000" pitchFamily="2" charset="2"/>
              <a:buChar char="Ø"/>
            </a:pPr>
            <a:r>
              <a:rPr lang="en-US" sz="1600" dirty="0"/>
              <a:t>We chose to use ‘skip_2’ as our output label since it better represents whether a user likes the track they are on (after going a third way through it).</a:t>
            </a:r>
          </a:p>
          <a:p>
            <a:pPr>
              <a:buFont typeface="Wingdings" panose="05000000000000000000" pitchFamily="2" charset="2"/>
              <a:buChar char="Ø"/>
            </a:pPr>
            <a:r>
              <a:rPr lang="en-US" sz="1600" dirty="0"/>
              <a:t>For better understanding, other the skip features ’skip 1’ and ’skip 4’ respectively indicate whether a user skipped the track almost as soon as it played or near the end of the track. </a:t>
            </a:r>
            <a:endParaRPr lang="en-IN" sz="1600" dirty="0"/>
          </a:p>
        </p:txBody>
      </p:sp>
    </p:spTree>
    <p:extLst>
      <p:ext uri="{BB962C8B-B14F-4D97-AF65-F5344CB8AC3E}">
        <p14:creationId xmlns:p14="http://schemas.microsoft.com/office/powerpoint/2010/main" val="23345252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553C6C-ACC4-460A-944E-3FFD0E9FA785}"/>
              </a:ext>
            </a:extLst>
          </p:cNvPr>
          <p:cNvSpPr>
            <a:spLocks noGrp="1"/>
          </p:cNvSpPr>
          <p:nvPr>
            <p:ph type="title"/>
          </p:nvPr>
        </p:nvSpPr>
        <p:spPr/>
        <p:txBody>
          <a:bodyPr/>
          <a:lstStyle/>
          <a:p>
            <a:r>
              <a:rPr lang="en-IN" dirty="0"/>
              <a:t>Accuracy Metrics</a:t>
            </a:r>
          </a:p>
        </p:txBody>
      </p:sp>
      <p:sp>
        <p:nvSpPr>
          <p:cNvPr id="3" name="Content Placeholder 2">
            <a:extLst>
              <a:ext uri="{FF2B5EF4-FFF2-40B4-BE49-F238E27FC236}">
                <a16:creationId xmlns:a16="http://schemas.microsoft.com/office/drawing/2014/main" id="{EF24B6E2-254D-4A10-8C36-D201379F37FA}"/>
              </a:ext>
            </a:extLst>
          </p:cNvPr>
          <p:cNvSpPr>
            <a:spLocks noGrp="1"/>
          </p:cNvSpPr>
          <p:nvPr>
            <p:ph idx="1"/>
          </p:nvPr>
        </p:nvSpPr>
        <p:spPr>
          <a:xfrm>
            <a:off x="816016" y="2725349"/>
            <a:ext cx="10559968" cy="1086678"/>
          </a:xfrm>
        </p:spPr>
        <p:txBody>
          <a:bodyPr>
            <a:normAutofit/>
          </a:bodyPr>
          <a:lstStyle/>
          <a:p>
            <a:r>
              <a:rPr lang="en-US" dirty="0"/>
              <a:t>Our evaluation metric on the task of sequential skip prediction is defined as</a:t>
            </a:r>
            <a:r>
              <a:rPr lang="en-US" b="1" dirty="0"/>
              <a:t> mean average accuracy (MAA). </a:t>
            </a:r>
            <a:r>
              <a:rPr lang="en-US" dirty="0"/>
              <a:t>For a single example session, we can calculate average accuracy as</a:t>
            </a:r>
            <a:r>
              <a:rPr lang="en-IN" dirty="0"/>
              <a:t>:</a:t>
            </a:r>
          </a:p>
        </p:txBody>
      </p:sp>
      <p:pic>
        <p:nvPicPr>
          <p:cNvPr id="4" name="Picture 3">
            <a:extLst>
              <a:ext uri="{FF2B5EF4-FFF2-40B4-BE49-F238E27FC236}">
                <a16:creationId xmlns:a16="http://schemas.microsoft.com/office/drawing/2014/main" id="{2ADE74B1-B456-460D-8EDF-3FADDAB95C8C}"/>
              </a:ext>
            </a:extLst>
          </p:cNvPr>
          <p:cNvPicPr>
            <a:picLocks noChangeAspect="1"/>
          </p:cNvPicPr>
          <p:nvPr/>
        </p:nvPicPr>
        <p:blipFill>
          <a:blip r:embed="rId2"/>
          <a:stretch>
            <a:fillRect/>
          </a:stretch>
        </p:blipFill>
        <p:spPr>
          <a:xfrm>
            <a:off x="3968591" y="3429000"/>
            <a:ext cx="3134138" cy="854765"/>
          </a:xfrm>
          <a:prstGeom prst="rect">
            <a:avLst/>
          </a:prstGeom>
        </p:spPr>
      </p:pic>
      <p:sp>
        <p:nvSpPr>
          <p:cNvPr id="5" name="Rectangle 4">
            <a:extLst>
              <a:ext uri="{FF2B5EF4-FFF2-40B4-BE49-F238E27FC236}">
                <a16:creationId xmlns:a16="http://schemas.microsoft.com/office/drawing/2014/main" id="{932D580A-DB5E-4EBC-AF93-E56017CAB023}"/>
              </a:ext>
            </a:extLst>
          </p:cNvPr>
          <p:cNvSpPr/>
          <p:nvPr/>
        </p:nvSpPr>
        <p:spPr>
          <a:xfrm>
            <a:off x="816015" y="4373217"/>
            <a:ext cx="10559967" cy="1477328"/>
          </a:xfrm>
          <a:prstGeom prst="rect">
            <a:avLst/>
          </a:prstGeom>
        </p:spPr>
        <p:txBody>
          <a:bodyPr wrap="square">
            <a:spAutoFit/>
          </a:bodyPr>
          <a:lstStyle/>
          <a:p>
            <a:pPr marL="285750" indent="-285750">
              <a:buClr>
                <a:schemeClr val="accent1"/>
              </a:buClr>
              <a:buFont typeface="Century Gothic" panose="020B0502020202020204" pitchFamily="34" charset="0"/>
              <a:buChar char="►"/>
            </a:pPr>
            <a:r>
              <a:rPr lang="en-US" b="1" dirty="0"/>
              <a:t>Loss Function: </a:t>
            </a:r>
            <a:r>
              <a:rPr lang="en-US" dirty="0"/>
              <a:t>We defined an experimental loss function that combined aspects of minimizing cross-entropy loss while also maximizing Average Accuracy.</a:t>
            </a:r>
          </a:p>
          <a:p>
            <a:pPr>
              <a:buClr>
                <a:schemeClr val="accent1"/>
              </a:buClr>
            </a:pPr>
            <a:endParaRPr lang="en-US" dirty="0"/>
          </a:p>
          <a:p>
            <a:pPr marL="285750" indent="-285750">
              <a:buClr>
                <a:schemeClr val="accent1"/>
              </a:buClr>
              <a:buFont typeface="Wingdings" panose="05000000000000000000" pitchFamily="2" charset="2"/>
              <a:buChar char="Ø"/>
            </a:pPr>
            <a:r>
              <a:rPr lang="en-US" dirty="0"/>
              <a:t>For a single session with T tracks, this new loss function can be defined as:</a:t>
            </a:r>
            <a:endParaRPr lang="en-US" b="1" dirty="0"/>
          </a:p>
          <a:p>
            <a:pPr marL="285750" indent="-285750">
              <a:buClr>
                <a:schemeClr val="accent1"/>
              </a:buClr>
              <a:buFont typeface="Century Gothic" panose="020B0502020202020204" pitchFamily="34" charset="0"/>
              <a:buChar char="►"/>
            </a:pPr>
            <a:endParaRPr lang="en-IN" b="1" dirty="0"/>
          </a:p>
        </p:txBody>
      </p:sp>
      <p:pic>
        <p:nvPicPr>
          <p:cNvPr id="7" name="Picture 6">
            <a:extLst>
              <a:ext uri="{FF2B5EF4-FFF2-40B4-BE49-F238E27FC236}">
                <a16:creationId xmlns:a16="http://schemas.microsoft.com/office/drawing/2014/main" id="{5A886CDC-08D5-42A0-9349-9A5527476B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42677" y="5731276"/>
            <a:ext cx="7106642" cy="809738"/>
          </a:xfrm>
          <a:prstGeom prst="rect">
            <a:avLst/>
          </a:prstGeom>
        </p:spPr>
      </p:pic>
    </p:spTree>
    <p:extLst>
      <p:ext uri="{BB962C8B-B14F-4D97-AF65-F5344CB8AC3E}">
        <p14:creationId xmlns:p14="http://schemas.microsoft.com/office/powerpoint/2010/main" val="19787706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6113B6-88F8-441E-826B-A97730729180}"/>
              </a:ext>
            </a:extLst>
          </p:cNvPr>
          <p:cNvSpPr>
            <a:spLocks noGrp="1"/>
          </p:cNvSpPr>
          <p:nvPr>
            <p:ph type="title"/>
          </p:nvPr>
        </p:nvSpPr>
        <p:spPr/>
        <p:txBody>
          <a:bodyPr/>
          <a:lstStyle/>
          <a:p>
            <a:r>
              <a:rPr lang="en-IN" dirty="0"/>
              <a:t>Model Implementations</a:t>
            </a:r>
          </a:p>
        </p:txBody>
      </p:sp>
      <p:sp>
        <p:nvSpPr>
          <p:cNvPr id="3" name="Content Placeholder 2">
            <a:extLst>
              <a:ext uri="{FF2B5EF4-FFF2-40B4-BE49-F238E27FC236}">
                <a16:creationId xmlns:a16="http://schemas.microsoft.com/office/drawing/2014/main" id="{83712817-D515-4059-9A91-0338EB1B931D}"/>
              </a:ext>
            </a:extLst>
          </p:cNvPr>
          <p:cNvSpPr>
            <a:spLocks noGrp="1"/>
          </p:cNvSpPr>
          <p:nvPr>
            <p:ph idx="1"/>
          </p:nvPr>
        </p:nvSpPr>
        <p:spPr>
          <a:xfrm>
            <a:off x="649358" y="2589852"/>
            <a:ext cx="11012556" cy="4088848"/>
          </a:xfrm>
        </p:spPr>
        <p:txBody>
          <a:bodyPr/>
          <a:lstStyle/>
          <a:p>
            <a:r>
              <a:rPr lang="en-IN" b="1" dirty="0"/>
              <a:t>Gradient Boosted Trees: </a:t>
            </a:r>
            <a:r>
              <a:rPr lang="en-IN" sz="1600" dirty="0"/>
              <a:t>We chose GBT as our baseline model. It </a:t>
            </a:r>
            <a:r>
              <a:rPr lang="en-US" sz="1600" dirty="0"/>
              <a:t>generates predictors from the algorithm sequentially, aligning with our task of sequence-based classification. </a:t>
            </a:r>
          </a:p>
          <a:p>
            <a:pPr marL="0" indent="0">
              <a:buNone/>
            </a:pPr>
            <a:r>
              <a:rPr lang="en-US" sz="1600" dirty="0"/>
              <a:t>       	We decided to implement Light GBT, due to its high speed, low memory, and capacity to handle large 	datasets.</a:t>
            </a:r>
            <a:endParaRPr lang="en-IN" sz="1600" b="1" dirty="0"/>
          </a:p>
          <a:p>
            <a:r>
              <a:rPr lang="en-IN" b="1" dirty="0"/>
              <a:t>LSTM and Bi-LSTM: </a:t>
            </a:r>
            <a:r>
              <a:rPr lang="en-US" sz="1600" dirty="0"/>
              <a:t>We are using LSTMs and Bi-LSTMs in an encoder-decoder architecture to train and evaluate our sequence-to-sequence skip prediction task.</a:t>
            </a:r>
            <a:endParaRPr lang="en-IN" sz="1600" b="1" dirty="0"/>
          </a:p>
          <a:p>
            <a:r>
              <a:rPr lang="en-IN" b="1" dirty="0"/>
              <a:t>Transformer - Traditional NLP Model: </a:t>
            </a:r>
            <a:r>
              <a:rPr lang="en-US" sz="1600" dirty="0"/>
              <a:t>An embedding gets passed into our encoder, creating a hidden state, which gets passed into the decoder along with the output target sequence.  which is first right-shifted by one so that the decoder uses the output prediction of the previous track and properly predicts in-sequence.</a:t>
            </a:r>
            <a:endParaRPr lang="en-IN" sz="1600" b="1" dirty="0"/>
          </a:p>
          <a:p>
            <a:r>
              <a:rPr lang="en-IN" b="1" dirty="0"/>
              <a:t>Transformer - Feature-Forcing: </a:t>
            </a:r>
            <a:r>
              <a:rPr lang="en-IN" sz="1600" dirty="0"/>
              <a:t>A more compact embedding is passed into the encoder which creates a hidden state to be passed to the decoder. Instead of sending the output of the previous track,  we leverage it with </a:t>
            </a:r>
            <a:r>
              <a:rPr lang="en-US" sz="1600" dirty="0"/>
              <a:t>the audio features of the track.</a:t>
            </a:r>
            <a:endParaRPr lang="en-IN" sz="1600" b="1" dirty="0"/>
          </a:p>
        </p:txBody>
      </p:sp>
    </p:spTree>
    <p:extLst>
      <p:ext uri="{BB962C8B-B14F-4D97-AF65-F5344CB8AC3E}">
        <p14:creationId xmlns:p14="http://schemas.microsoft.com/office/powerpoint/2010/main" val="19001903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E4332E-4A2B-4E93-A2E2-8D3419A3BAA7}"/>
              </a:ext>
            </a:extLst>
          </p:cNvPr>
          <p:cNvSpPr>
            <a:spLocks noGrp="1"/>
          </p:cNvSpPr>
          <p:nvPr>
            <p:ph type="title"/>
          </p:nvPr>
        </p:nvSpPr>
        <p:spPr/>
        <p:txBody>
          <a:bodyPr/>
          <a:lstStyle/>
          <a:p>
            <a:r>
              <a:rPr lang="en-IN" dirty="0"/>
              <a:t>Results </a:t>
            </a:r>
            <a:r>
              <a:rPr lang="en-IN" sz="2000" dirty="0"/>
              <a:t>(Source from paper)</a:t>
            </a:r>
          </a:p>
        </p:txBody>
      </p:sp>
      <p:sp>
        <p:nvSpPr>
          <p:cNvPr id="10" name="Title 1">
            <a:extLst>
              <a:ext uri="{FF2B5EF4-FFF2-40B4-BE49-F238E27FC236}">
                <a16:creationId xmlns:a16="http://schemas.microsoft.com/office/drawing/2014/main" id="{B128F123-0958-4E0E-BB79-678D69FCDF71}"/>
              </a:ext>
            </a:extLst>
          </p:cNvPr>
          <p:cNvSpPr txBox="1">
            <a:spLocks/>
          </p:cNvSpPr>
          <p:nvPr/>
        </p:nvSpPr>
        <p:spPr bwMode="gray">
          <a:xfrm>
            <a:off x="0" y="973138"/>
            <a:ext cx="8761413" cy="708025"/>
          </a:xfrm>
          <a:prstGeom prst="rect">
            <a:avLst/>
          </a:prstGeom>
        </p:spPr>
        <p:txBody>
          <a:bodyPr vert="horz" lIns="91440" tIns="45720" rIns="91440" bIns="45720" rtlCol="0" anchor="ctr">
            <a:noAutofit/>
          </a:bodyPr>
          <a:lst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a:t> </a:t>
            </a:r>
            <a:endParaRPr lang="en-IN" dirty="0"/>
          </a:p>
        </p:txBody>
      </p:sp>
      <p:sp>
        <p:nvSpPr>
          <p:cNvPr id="11" name="Content Placeholder 3">
            <a:extLst>
              <a:ext uri="{FF2B5EF4-FFF2-40B4-BE49-F238E27FC236}">
                <a16:creationId xmlns:a16="http://schemas.microsoft.com/office/drawing/2014/main" id="{2AD87475-CF56-4921-A69D-EFAF5DE8FF70}"/>
              </a:ext>
            </a:extLst>
          </p:cNvPr>
          <p:cNvSpPr txBox="1">
            <a:spLocks/>
          </p:cNvSpPr>
          <p:nvPr/>
        </p:nvSpPr>
        <p:spPr>
          <a:xfrm>
            <a:off x="531288" y="2292823"/>
            <a:ext cx="5910455" cy="3591509"/>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r>
              <a:rPr lang="en-IN" sz="1600" b="1" dirty="0"/>
              <a:t>Gradient Boosted Tree </a:t>
            </a:r>
            <a:r>
              <a:rPr lang="en-IN" sz="1600" dirty="0"/>
              <a:t>showed an overall accuracy of 50%, which was better than most sequential based models. </a:t>
            </a:r>
            <a:endParaRPr lang="en-IN" sz="1600" b="1" dirty="0"/>
          </a:p>
          <a:p>
            <a:r>
              <a:rPr lang="en-IN" sz="1600" b="1" dirty="0"/>
              <a:t>LSTM and Bi-LSTM </a:t>
            </a:r>
            <a:r>
              <a:rPr lang="en-IN" sz="1600" dirty="0"/>
              <a:t>both resulted in overfitting of data.</a:t>
            </a:r>
          </a:p>
          <a:p>
            <a:r>
              <a:rPr lang="en-US" sz="1600" dirty="0"/>
              <a:t>However on comparison to LSTMs, </a:t>
            </a:r>
            <a:r>
              <a:rPr lang="en-US" sz="1600" b="1" dirty="0"/>
              <a:t>bidirectional LSTMs </a:t>
            </a:r>
            <a:r>
              <a:rPr lang="en-US" sz="1600" dirty="0"/>
              <a:t>performed better on classification tasks since they were able to capture information from both present and future states.</a:t>
            </a:r>
          </a:p>
          <a:p>
            <a:r>
              <a:rPr lang="en-US" sz="1600" b="1" dirty="0"/>
              <a:t>Traditional NLP, </a:t>
            </a:r>
            <a:r>
              <a:rPr lang="en-US" sz="1600" dirty="0"/>
              <a:t>this transformer’s accuracy dropped even lower than the LSTM. Mapping from an input size of 20 tracks to an output size of 10 tracks was not a good idea.</a:t>
            </a:r>
          </a:p>
          <a:p>
            <a:endParaRPr lang="en-IN" sz="1600" b="1" dirty="0"/>
          </a:p>
        </p:txBody>
      </p:sp>
      <p:pic>
        <p:nvPicPr>
          <p:cNvPr id="12" name="Picture 11">
            <a:extLst>
              <a:ext uri="{FF2B5EF4-FFF2-40B4-BE49-F238E27FC236}">
                <a16:creationId xmlns:a16="http://schemas.microsoft.com/office/drawing/2014/main" id="{8B88B243-ABF7-4101-B405-78E7579EBD4F}"/>
              </a:ext>
            </a:extLst>
          </p:cNvPr>
          <p:cNvPicPr>
            <a:picLocks noChangeAspect="1"/>
          </p:cNvPicPr>
          <p:nvPr/>
        </p:nvPicPr>
        <p:blipFill>
          <a:blip r:embed="rId2"/>
          <a:stretch>
            <a:fillRect/>
          </a:stretch>
        </p:blipFill>
        <p:spPr>
          <a:xfrm>
            <a:off x="6846568" y="2458344"/>
            <a:ext cx="4595338" cy="415563"/>
          </a:xfrm>
          <a:prstGeom prst="rect">
            <a:avLst/>
          </a:prstGeom>
        </p:spPr>
      </p:pic>
      <p:sp>
        <p:nvSpPr>
          <p:cNvPr id="13" name="Content Placeholder 3">
            <a:extLst>
              <a:ext uri="{FF2B5EF4-FFF2-40B4-BE49-F238E27FC236}">
                <a16:creationId xmlns:a16="http://schemas.microsoft.com/office/drawing/2014/main" id="{9FEF0A70-7484-4C3F-8622-60B636201E2A}"/>
              </a:ext>
            </a:extLst>
          </p:cNvPr>
          <p:cNvSpPr txBox="1">
            <a:spLocks/>
          </p:cNvSpPr>
          <p:nvPr/>
        </p:nvSpPr>
        <p:spPr>
          <a:xfrm>
            <a:off x="-2990477" y="1161708"/>
            <a:ext cx="4826000" cy="775908"/>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endParaRPr lang="en-IN" sz="1700" b="1" dirty="0"/>
          </a:p>
        </p:txBody>
      </p:sp>
      <p:pic>
        <p:nvPicPr>
          <p:cNvPr id="14" name="Picture 13">
            <a:extLst>
              <a:ext uri="{FF2B5EF4-FFF2-40B4-BE49-F238E27FC236}">
                <a16:creationId xmlns:a16="http://schemas.microsoft.com/office/drawing/2014/main" id="{1581CDEE-069A-41E6-82D1-6860E7B691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28072" y="3088296"/>
            <a:ext cx="4613834" cy="2796036"/>
          </a:xfrm>
          <a:prstGeom prst="rect">
            <a:avLst/>
          </a:prstGeom>
        </p:spPr>
      </p:pic>
      <p:sp>
        <p:nvSpPr>
          <p:cNvPr id="15" name="Rectangle 14">
            <a:extLst>
              <a:ext uri="{FF2B5EF4-FFF2-40B4-BE49-F238E27FC236}">
                <a16:creationId xmlns:a16="http://schemas.microsoft.com/office/drawing/2014/main" id="{A05F0B5F-7E06-44AE-8C0A-9079D76D9796}"/>
              </a:ext>
            </a:extLst>
          </p:cNvPr>
          <p:cNvSpPr/>
          <p:nvPr/>
        </p:nvSpPr>
        <p:spPr>
          <a:xfrm>
            <a:off x="531288" y="5867313"/>
            <a:ext cx="10563361" cy="1077218"/>
          </a:xfrm>
          <a:prstGeom prst="rect">
            <a:avLst/>
          </a:prstGeom>
        </p:spPr>
        <p:txBody>
          <a:bodyPr wrap="square">
            <a:spAutoFit/>
          </a:bodyPr>
          <a:lstStyle/>
          <a:p>
            <a:pPr marL="285750" indent="-285750">
              <a:buClr>
                <a:schemeClr val="accent2">
                  <a:lumMod val="75000"/>
                </a:schemeClr>
              </a:buClr>
              <a:buSzPct val="90000"/>
              <a:buFont typeface="Century Gothic" panose="020B0502020202020204" pitchFamily="34" charset="0"/>
              <a:buChar char="►"/>
            </a:pPr>
            <a:r>
              <a:rPr lang="en-IN" sz="1600" b="1" dirty="0"/>
              <a:t>Transformer (Feature-Forcing) </a:t>
            </a:r>
            <a:r>
              <a:rPr lang="en-US" sz="1600" dirty="0"/>
              <a:t>We see from the results that this architecture proved to be a better model with an </a:t>
            </a:r>
            <a:r>
              <a:rPr lang="en-US" sz="1600" b="1" dirty="0"/>
              <a:t>accuracy of 47%. </a:t>
            </a:r>
            <a:r>
              <a:rPr lang="en-US" sz="1600" dirty="0"/>
              <a:t>Also this transformer does not overfit and achieves a higher accuracy than the traditional NLP transformer, LSTM, and Bi-LSTM models.</a:t>
            </a:r>
            <a:endParaRPr lang="en-US" sz="1600" b="1" dirty="0"/>
          </a:p>
          <a:p>
            <a:endParaRPr lang="en-IN" sz="1600" b="1" dirty="0"/>
          </a:p>
        </p:txBody>
      </p:sp>
    </p:spTree>
    <p:extLst>
      <p:ext uri="{BB962C8B-B14F-4D97-AF65-F5344CB8AC3E}">
        <p14:creationId xmlns:p14="http://schemas.microsoft.com/office/powerpoint/2010/main" val="5376306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E23B34-D751-4D00-8B75-EEB2BF59EA48}"/>
              </a:ext>
            </a:extLst>
          </p:cNvPr>
          <p:cNvSpPr>
            <a:spLocks noGrp="1"/>
          </p:cNvSpPr>
          <p:nvPr>
            <p:ph type="title"/>
          </p:nvPr>
        </p:nvSpPr>
        <p:spPr/>
        <p:txBody>
          <a:bodyPr/>
          <a:lstStyle/>
          <a:p>
            <a:r>
              <a:rPr lang="en-IN" spc="70" dirty="0">
                <a:solidFill>
                  <a:srgbClr val="FFFFFF"/>
                </a:solidFill>
              </a:rPr>
              <a:t>CONCLUSION </a:t>
            </a:r>
            <a:r>
              <a:rPr lang="en-IN" spc="-65" dirty="0">
                <a:solidFill>
                  <a:srgbClr val="FFFFFF"/>
                </a:solidFill>
              </a:rPr>
              <a:t>&amp; </a:t>
            </a:r>
            <a:r>
              <a:rPr lang="en-IN" spc="114" dirty="0">
                <a:solidFill>
                  <a:srgbClr val="FFFFFF"/>
                </a:solidFill>
              </a:rPr>
              <a:t>FUTURE</a:t>
            </a:r>
            <a:r>
              <a:rPr lang="en-IN" spc="-180" dirty="0">
                <a:solidFill>
                  <a:srgbClr val="FFFFFF"/>
                </a:solidFill>
              </a:rPr>
              <a:t> </a:t>
            </a:r>
            <a:r>
              <a:rPr lang="en-IN" spc="65" dirty="0">
                <a:solidFill>
                  <a:srgbClr val="FFFFFF"/>
                </a:solidFill>
              </a:rPr>
              <a:t>WORK</a:t>
            </a:r>
            <a:endParaRPr lang="en-IN" dirty="0"/>
          </a:p>
        </p:txBody>
      </p:sp>
      <p:sp>
        <p:nvSpPr>
          <p:cNvPr id="3" name="Content Placeholder 2">
            <a:extLst>
              <a:ext uri="{FF2B5EF4-FFF2-40B4-BE49-F238E27FC236}">
                <a16:creationId xmlns:a16="http://schemas.microsoft.com/office/drawing/2014/main" id="{AD0EB393-FAD0-425E-BAF1-D7D2AAC786D0}"/>
              </a:ext>
            </a:extLst>
          </p:cNvPr>
          <p:cNvSpPr>
            <a:spLocks noGrp="1"/>
          </p:cNvSpPr>
          <p:nvPr>
            <p:ph idx="1"/>
          </p:nvPr>
        </p:nvSpPr>
        <p:spPr>
          <a:xfrm>
            <a:off x="1154954" y="2603500"/>
            <a:ext cx="9381118" cy="3416300"/>
          </a:xfrm>
        </p:spPr>
        <p:txBody>
          <a:bodyPr/>
          <a:lstStyle/>
          <a:p>
            <a:r>
              <a:rPr lang="en-IN" dirty="0"/>
              <a:t>Transformer (Feature-Forcing) performed really well but also resulted in a loss of information, which had to be dynamically added.</a:t>
            </a:r>
          </a:p>
          <a:p>
            <a:r>
              <a:rPr lang="en-IN" dirty="0"/>
              <a:t>Both LSTM and Bi-LSTM could be improved </a:t>
            </a:r>
            <a:r>
              <a:rPr lang="en-US" dirty="0"/>
              <a:t>by better hyperparameter searching and tuning</a:t>
            </a:r>
          </a:p>
          <a:p>
            <a:r>
              <a:rPr lang="en-US" dirty="0"/>
              <a:t>With given more time we could have our models work with variable length tracks.</a:t>
            </a:r>
          </a:p>
          <a:p>
            <a:r>
              <a:rPr lang="en-US" dirty="0"/>
              <a:t>We could perform Feature analysis and explainability for the Transformer as it would help us better understand how the attention layers work in the model and which features are more significant for prediction.</a:t>
            </a:r>
            <a:endParaRPr lang="en-IN" dirty="0"/>
          </a:p>
        </p:txBody>
      </p:sp>
    </p:spTree>
    <p:extLst>
      <p:ext uri="{BB962C8B-B14F-4D97-AF65-F5344CB8AC3E}">
        <p14:creationId xmlns:p14="http://schemas.microsoft.com/office/powerpoint/2010/main" val="268339877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464</TotalTime>
  <Words>800</Words>
  <Application>Microsoft Office PowerPoint</Application>
  <PresentationFormat>Widescreen</PresentationFormat>
  <Paragraphs>48</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Century Gothic</vt:lpstr>
      <vt:lpstr>Wingdings</vt:lpstr>
      <vt:lpstr>Wingdings 3</vt:lpstr>
      <vt:lpstr>Ion Boardroom</vt:lpstr>
      <vt:lpstr>Using NLP Techniques to Predict Song Skips on Spotify based on Sequential User and Acoustic Data</vt:lpstr>
      <vt:lpstr>INTRODUCTION</vt:lpstr>
      <vt:lpstr>Dataset</vt:lpstr>
      <vt:lpstr>Pre-processing and Features</vt:lpstr>
      <vt:lpstr>Accuracy Metrics</vt:lpstr>
      <vt:lpstr>Model Implementations</vt:lpstr>
      <vt:lpstr>Results (Source from paper)</vt:lpstr>
      <vt:lpstr>CONCLUSION &amp; FUTURE WORK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Using NLP Techniques to Predict Song Skips on Spotify based on Sequential User and Acoustic Data</dc:title>
  <dc:creator>Alka Roy</dc:creator>
  <cp:lastModifiedBy>Alka Roy</cp:lastModifiedBy>
  <cp:revision>31</cp:revision>
  <dcterms:created xsi:type="dcterms:W3CDTF">2021-10-04T07:39:24Z</dcterms:created>
  <dcterms:modified xsi:type="dcterms:W3CDTF">2021-10-04T15:30:09Z</dcterms:modified>
</cp:coreProperties>
</file>