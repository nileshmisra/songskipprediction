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5" r:id="rId8"/>
    <p:sldId id="266" r:id="rId9"/>
    <p:sldId id="264" r:id="rId10"/>
    <p:sldId id="263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101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77B2-81C6-46D5-873D-57D3D3349B58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062C6-B0E7-45B6-9BD6-0E28C18888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77B2-81C6-46D5-873D-57D3D3349B58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062C6-B0E7-45B6-9BD6-0E28C18888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77B2-81C6-46D5-873D-57D3D3349B58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062C6-B0E7-45B6-9BD6-0E28C18888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77B2-81C6-46D5-873D-57D3D3349B58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062C6-B0E7-45B6-9BD6-0E28C18888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77B2-81C6-46D5-873D-57D3D3349B58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062C6-B0E7-45B6-9BD6-0E28C18888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77B2-81C6-46D5-873D-57D3D3349B58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062C6-B0E7-45B6-9BD6-0E28C18888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77B2-81C6-46D5-873D-57D3D3349B58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062C6-B0E7-45B6-9BD6-0E28C18888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77B2-81C6-46D5-873D-57D3D3349B58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062C6-B0E7-45B6-9BD6-0E28C18888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77B2-81C6-46D5-873D-57D3D3349B58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062C6-B0E7-45B6-9BD6-0E28C18888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77B2-81C6-46D5-873D-57D3D3349B58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062C6-B0E7-45B6-9BD6-0E28C18888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77B2-81C6-46D5-873D-57D3D3349B58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062C6-B0E7-45B6-9BD6-0E28C18888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77B2-81C6-46D5-873D-57D3D3349B58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C062C6-B0E7-45B6-9BD6-0E28C188886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472" y="785794"/>
            <a:ext cx="7886728" cy="2528905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Predict Song Skips on Spotify based on Sequential User and Acoustic Data using NLP Technique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8596" y="4500570"/>
            <a:ext cx="6400800" cy="1752600"/>
          </a:xfrm>
        </p:spPr>
        <p:txBody>
          <a:bodyPr numCol="1">
            <a:normAutofit/>
          </a:bodyPr>
          <a:lstStyle/>
          <a:p>
            <a:pPr algn="l"/>
            <a:r>
              <a:rPr lang="en-IN" sz="3600" b="1" i="1" dirty="0" smtClean="0">
                <a:latin typeface="Monotype Corsiva" pitchFamily="66" charset="0"/>
              </a:rPr>
              <a:t>“Listening is everything.”</a:t>
            </a:r>
            <a:endParaRPr lang="en-US" sz="3600" b="1" i="1" dirty="0">
              <a:latin typeface="Monotype Corsiva" pitchFamily="66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3472" y="2939450"/>
            <a:ext cx="4000528" cy="391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00298" y="2716734"/>
            <a:ext cx="3071834" cy="1513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714348" y="5857892"/>
            <a:ext cx="2643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/>
              <a:t>-- Shreeja Mishra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 smtClean="0"/>
              <a:t>Brief 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643051"/>
            <a:ext cx="8572560" cy="4214841"/>
          </a:xfrm>
        </p:spPr>
        <p:txBody>
          <a:bodyPr>
            <a:normAutofit/>
          </a:bodyPr>
          <a:lstStyle/>
          <a:p>
            <a:r>
              <a:rPr lang="en-US" sz="2400" dirty="0"/>
              <a:t>With Spotify, it’s easy to find the right music or podcast for every moment – on your phone, your computer, your tablet and </a:t>
            </a:r>
            <a:r>
              <a:rPr lang="en-US" sz="2400" dirty="0" smtClean="0"/>
              <a:t>more.</a:t>
            </a:r>
          </a:p>
          <a:p>
            <a:r>
              <a:rPr lang="en-US" sz="2400" dirty="0" smtClean="0"/>
              <a:t>Whether </a:t>
            </a:r>
            <a:r>
              <a:rPr lang="en-US" sz="2400" dirty="0"/>
              <a:t>you’re behind the wheel, working out, partying or relaxing, the right music or podcast is always at your fingertips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Choose what you want to listen to, or let Spotify surprise you.</a:t>
            </a:r>
          </a:p>
          <a:p>
            <a:r>
              <a:rPr lang="en-US" sz="2400" dirty="0"/>
              <a:t>You can also browse through the collections of friends, artists, and celebrities, or create a radio station and just sit back.</a:t>
            </a:r>
          </a:p>
          <a:p>
            <a:r>
              <a:rPr lang="en-US" sz="2400" dirty="0"/>
              <a:t>Soundtrack your life with Spotify. Subscribe or listen for free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15140" y="6000768"/>
            <a:ext cx="230505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smtClean="0"/>
              <a:t>Steps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928794" y="1285860"/>
            <a:ext cx="5116982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15140" y="6000768"/>
            <a:ext cx="230505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smtClean="0"/>
              <a:t>Business Understanding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smtClean="0"/>
              <a:t>Spotify – A go-to music provider, hence it is increasingly important to recommend the right music to the user.</a:t>
            </a:r>
          </a:p>
          <a:p>
            <a:r>
              <a:rPr lang="en-IN" sz="2400" dirty="0" smtClean="0"/>
              <a:t>Provides customised playlist and new song recommendation.</a:t>
            </a:r>
          </a:p>
          <a:p>
            <a:r>
              <a:rPr lang="en-IN" sz="2400" dirty="0" smtClean="0"/>
              <a:t>Skipping Behaviour serves as a powerful signal what a user likes and doesn’t like.</a:t>
            </a:r>
          </a:p>
          <a:p>
            <a:r>
              <a:rPr lang="en-IN" sz="2400" dirty="0" smtClean="0"/>
              <a:t>Being able to understand skip behaviour pattern in context of a listening session is key to recommending relevant content.</a:t>
            </a:r>
          </a:p>
          <a:p>
            <a:r>
              <a:rPr lang="en-IN" sz="2400" dirty="0" smtClean="0"/>
              <a:t>Hence, the main focus of our project is to build a sequential skip prediction model to predict if a user will skip based on previous track records and the song’s musical qualities.		</a:t>
            </a:r>
          </a:p>
          <a:p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15140" y="6000768"/>
            <a:ext cx="230505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smtClean="0"/>
              <a:t>Data Understanding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smtClean="0"/>
              <a:t>Input – Embedding of audio features and user behaviour.</a:t>
            </a:r>
          </a:p>
          <a:p>
            <a:r>
              <a:rPr lang="en-IN" sz="2400" dirty="0" smtClean="0"/>
              <a:t>Output – Predicting whether a track is “skipped” or “not skipped”.</a:t>
            </a:r>
          </a:p>
          <a:p>
            <a:r>
              <a:rPr lang="en-IN" sz="2400" dirty="0" smtClean="0"/>
              <a:t>Data consists of roughly 130 million listening sessions.</a:t>
            </a:r>
          </a:p>
          <a:p>
            <a:r>
              <a:rPr lang="en-IN" sz="2400" dirty="0" smtClean="0"/>
              <a:t>Each session consists of multiple music (podcasts, songs, etc) tracks (at most 20 tracks).</a:t>
            </a:r>
          </a:p>
          <a:p>
            <a:endParaRPr lang="en-US" sz="2400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4143380"/>
            <a:ext cx="4629150" cy="226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15140" y="6000768"/>
            <a:ext cx="230505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smtClean="0"/>
              <a:t>Data Preparation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500174"/>
            <a:ext cx="8258204" cy="4625989"/>
          </a:xfrm>
        </p:spPr>
        <p:txBody>
          <a:bodyPr>
            <a:normAutofit/>
          </a:bodyPr>
          <a:lstStyle/>
          <a:p>
            <a:r>
              <a:rPr lang="en-IN" sz="2400" dirty="0" smtClean="0"/>
              <a:t>Merged user behaviour and acoustic features for each track by using track ids.</a:t>
            </a:r>
          </a:p>
          <a:p>
            <a:r>
              <a:rPr lang="en-IN" sz="2400" dirty="0" smtClean="0"/>
              <a:t>Processed categorical features into one hot encoding.</a:t>
            </a:r>
          </a:p>
          <a:p>
            <a:r>
              <a:rPr lang="en-IN" sz="2400" dirty="0" smtClean="0"/>
              <a:t>Normalised the features using z-score and min-max normalisation.</a:t>
            </a:r>
          </a:p>
          <a:p>
            <a:r>
              <a:rPr lang="en-IN" sz="2400" dirty="0" smtClean="0"/>
              <a:t>Above pre-processing steps helped us to get an input track embedding for our model.</a:t>
            </a:r>
          </a:p>
          <a:p>
            <a:r>
              <a:rPr lang="en-IN" sz="2400" dirty="0" smtClean="0"/>
              <a:t>We are using ‘skip_2’ as our output label as its more ideal in indicating the user’s actions of listening to a song.</a:t>
            </a:r>
          </a:p>
          <a:p>
            <a:endParaRPr lang="en-US" sz="2400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15140" y="6000768"/>
            <a:ext cx="230505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smtClean="0"/>
              <a:t>Modelling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u="sng" dirty="0" smtClean="0"/>
              <a:t>Gradient Boosting Trees</a:t>
            </a:r>
            <a:r>
              <a:rPr lang="en-IN" sz="2400" dirty="0" smtClean="0"/>
              <a:t> – Generates predictors sequentially and builds off of previous data i.e., improving first trees prediction before building the second tree.</a:t>
            </a:r>
            <a:r>
              <a:rPr lang="en-IN" sz="2400" u="sng" dirty="0" smtClean="0"/>
              <a:t>         </a:t>
            </a:r>
          </a:p>
          <a:p>
            <a:r>
              <a:rPr lang="en-IN" sz="2400" u="sng" dirty="0" smtClean="0"/>
              <a:t>Recurrent Neural Network : LSTM &amp; Bi-LSTM</a:t>
            </a:r>
            <a:r>
              <a:rPr lang="en-IN" sz="2400" dirty="0" smtClean="0"/>
              <a:t> – Encoder/ Decoder architecture is used to train and evaluate on sequence-to-sequence skip prediction task.</a:t>
            </a:r>
            <a:endParaRPr lang="en-IN" sz="2400" u="sng" dirty="0" smtClean="0"/>
          </a:p>
          <a:p>
            <a:r>
              <a:rPr lang="en-IN" sz="2400" u="sng" dirty="0" smtClean="0"/>
              <a:t>Transformer : Traditional NLP Method</a:t>
            </a:r>
            <a:r>
              <a:rPr lang="en-IN" sz="2400" dirty="0" smtClean="0"/>
              <a:t> – Transformers were able to learn long and short range dependencies, as it was important to take into account all audio features as well as historical skip behaviour.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15140" y="6000768"/>
            <a:ext cx="230505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0034" y="1000108"/>
            <a:ext cx="807249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dirty="0" smtClean="0"/>
              <a:t>  </a:t>
            </a:r>
            <a:r>
              <a:rPr lang="en-IN" u="sng" dirty="0" smtClean="0"/>
              <a:t> </a:t>
            </a:r>
            <a:r>
              <a:rPr lang="en-IN" sz="2400" u="sng" dirty="0" smtClean="0"/>
              <a:t>Transformer : Feature Forcing Method</a:t>
            </a:r>
            <a:r>
              <a:rPr lang="en-IN" sz="2400" dirty="0" smtClean="0"/>
              <a:t> – Methods like Teacher Forcing and feature forcing are used.</a:t>
            </a:r>
            <a:r>
              <a:rPr lang="en-US" sz="2400" dirty="0" smtClean="0"/>
              <a:t> </a:t>
            </a:r>
          </a:p>
          <a:p>
            <a:r>
              <a:rPr lang="en-US" sz="2400" dirty="0" smtClean="0"/>
              <a:t> -- “Teacher forcing” </a:t>
            </a:r>
            <a:r>
              <a:rPr lang="en-US" sz="2400" dirty="0"/>
              <a:t>helps the model by passing </a:t>
            </a:r>
            <a:r>
              <a:rPr lang="en-US" sz="2400" dirty="0" smtClean="0"/>
              <a:t>in the </a:t>
            </a:r>
            <a:r>
              <a:rPr lang="en-US" sz="2400" dirty="0"/>
              <a:t>true labels of a sequence into the decoder as opposed </a:t>
            </a:r>
            <a:r>
              <a:rPr lang="en-US" sz="2400" dirty="0" smtClean="0"/>
              <a:t>to looping </a:t>
            </a:r>
            <a:r>
              <a:rPr lang="en-US" sz="2400" dirty="0"/>
              <a:t>back in and sending in the labels generated by </a:t>
            </a:r>
            <a:r>
              <a:rPr lang="en-US" sz="2400" dirty="0" smtClean="0"/>
              <a:t>the decoder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smtClean="0"/>
              <a:t> -- “Feature-forcing</a:t>
            </a:r>
            <a:r>
              <a:rPr lang="en-US" sz="2400" dirty="0"/>
              <a:t>” method similarly </a:t>
            </a:r>
            <a:r>
              <a:rPr lang="en-US" sz="2400" dirty="0" smtClean="0"/>
              <a:t>disregards the                     decoder </a:t>
            </a:r>
            <a:r>
              <a:rPr lang="en-US" sz="2400" dirty="0"/>
              <a:t>output and sends in predetermined features </a:t>
            </a:r>
            <a:r>
              <a:rPr lang="en-US" sz="2400" dirty="0" smtClean="0"/>
              <a:t>         instead</a:t>
            </a:r>
            <a:r>
              <a:rPr lang="en-US" sz="2400" dirty="0"/>
              <a:t>.</a:t>
            </a:r>
            <a:endParaRPr lang="en-I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smtClean="0"/>
              <a:t>Evaluation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u="sng" dirty="0" smtClean="0"/>
              <a:t>Accuracy Metric </a:t>
            </a:r>
            <a:r>
              <a:rPr lang="en-IN" sz="2400" dirty="0" smtClean="0"/>
              <a:t>- </a:t>
            </a:r>
            <a:r>
              <a:rPr lang="en-US" sz="2400" dirty="0"/>
              <a:t>For a single example session </a:t>
            </a:r>
            <a:r>
              <a:rPr lang="en-US" sz="2400" dirty="0" err="1"/>
              <a:t>i</a:t>
            </a:r>
            <a:r>
              <a:rPr lang="en-US" sz="2400" dirty="0"/>
              <a:t> with T </a:t>
            </a:r>
            <a:r>
              <a:rPr lang="en-US" sz="2400" dirty="0" smtClean="0"/>
              <a:t>tracks, we </a:t>
            </a:r>
            <a:r>
              <a:rPr lang="en-US" sz="2400" dirty="0"/>
              <a:t>can define Average Accuracy as</a:t>
            </a:r>
          </a:p>
          <a:p>
            <a:pPr>
              <a:buNone/>
            </a:pPr>
            <a:r>
              <a:rPr lang="en-US" sz="2400" dirty="0" smtClean="0"/>
              <a:t>          AA = 1/T  </a:t>
            </a:r>
            <a:r>
              <a:rPr lang="en-US" sz="2400" dirty="0" smtClean="0">
                <a:sym typeface="Symbol"/>
              </a:rPr>
              <a:t></a:t>
            </a:r>
            <a:r>
              <a:rPr lang="en-US" sz="2400" dirty="0" smtClean="0"/>
              <a:t> A(</a:t>
            </a:r>
            <a:r>
              <a:rPr lang="en-US" sz="2400" dirty="0" err="1" smtClean="0"/>
              <a:t>i</a:t>
            </a:r>
            <a:r>
              <a:rPr lang="en-US" sz="2400" dirty="0" smtClean="0"/>
              <a:t>) * 1{y</a:t>
            </a:r>
            <a:r>
              <a:rPr lang="en-US" sz="2400" baseline="30000" dirty="0" smtClean="0"/>
              <a:t>(</a:t>
            </a:r>
            <a:r>
              <a:rPr lang="en-US" sz="2400" baseline="30000" dirty="0" err="1" smtClean="0"/>
              <a:t>i</a:t>
            </a:r>
            <a:r>
              <a:rPr lang="en-US" sz="2400" baseline="30000" dirty="0" smtClean="0"/>
              <a:t>)</a:t>
            </a:r>
            <a:r>
              <a:rPr lang="en-US" sz="2400" dirty="0" smtClean="0"/>
              <a:t> </a:t>
            </a:r>
            <a:r>
              <a:rPr lang="en-US" sz="2400" dirty="0"/>
              <a:t>= ^</a:t>
            </a:r>
            <a:r>
              <a:rPr lang="en-US" sz="2400" dirty="0" smtClean="0"/>
              <a:t>y</a:t>
            </a:r>
            <a:r>
              <a:rPr lang="en-US" sz="2400" baseline="30000" dirty="0" smtClean="0"/>
              <a:t>(</a:t>
            </a:r>
            <a:r>
              <a:rPr lang="en-US" sz="2400" baseline="30000" dirty="0" err="1" smtClean="0"/>
              <a:t>i</a:t>
            </a:r>
            <a:r>
              <a:rPr lang="en-US" sz="2400" baseline="30000" dirty="0" smtClean="0"/>
              <a:t>)</a:t>
            </a:r>
            <a:r>
              <a:rPr lang="en-US" sz="2400" dirty="0" smtClean="0"/>
              <a:t>}</a:t>
            </a:r>
            <a:endParaRPr lang="en-US" sz="2400" dirty="0"/>
          </a:p>
          <a:p>
            <a:pPr>
              <a:buNone/>
            </a:pPr>
            <a:r>
              <a:rPr lang="en-US" sz="2400" dirty="0" smtClean="0"/>
              <a:t>     where y</a:t>
            </a:r>
            <a:r>
              <a:rPr lang="en-US" sz="2400" baseline="30000" dirty="0" smtClean="0"/>
              <a:t>(</a:t>
            </a:r>
            <a:r>
              <a:rPr lang="en-US" sz="2400" baseline="30000" dirty="0" err="1" smtClean="0"/>
              <a:t>i</a:t>
            </a:r>
            <a:r>
              <a:rPr lang="en-US" sz="2400" baseline="30000" dirty="0" smtClean="0"/>
              <a:t>)</a:t>
            </a:r>
            <a:r>
              <a:rPr lang="en-US" sz="2400" dirty="0" smtClean="0"/>
              <a:t> is </a:t>
            </a:r>
            <a:r>
              <a:rPr lang="en-US" sz="2400" dirty="0"/>
              <a:t>the ground truth label for track </a:t>
            </a:r>
            <a:r>
              <a:rPr lang="en-US" sz="2400" dirty="0" err="1"/>
              <a:t>i</a:t>
            </a:r>
            <a:r>
              <a:rPr lang="en-US" sz="2400" dirty="0"/>
              <a:t>, 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     ^y</a:t>
            </a:r>
            <a:r>
              <a:rPr lang="en-US" sz="2400" baseline="30000" dirty="0" smtClean="0"/>
              <a:t>(</a:t>
            </a:r>
            <a:r>
              <a:rPr lang="en-US" sz="2400" baseline="30000" dirty="0" err="1" smtClean="0"/>
              <a:t>i</a:t>
            </a:r>
            <a:r>
              <a:rPr lang="en-US" sz="2400" baseline="30000" dirty="0" smtClean="0"/>
              <a:t>)</a:t>
            </a:r>
            <a:r>
              <a:rPr lang="en-US" sz="2400" dirty="0" smtClean="0"/>
              <a:t> is the predicted </a:t>
            </a:r>
            <a:r>
              <a:rPr lang="en-US" sz="2400" dirty="0"/>
              <a:t>label for track </a:t>
            </a:r>
            <a:r>
              <a:rPr lang="en-US" sz="2400" dirty="0" err="1"/>
              <a:t>i</a:t>
            </a:r>
            <a:r>
              <a:rPr lang="en-US" sz="2400" dirty="0"/>
              <a:t>, </a:t>
            </a:r>
            <a:endParaRPr lang="en-US" sz="2400" dirty="0" smtClean="0"/>
          </a:p>
          <a:p>
            <a:pPr>
              <a:buNone/>
            </a:pPr>
            <a:r>
              <a:rPr lang="en-US" sz="2400" dirty="0"/>
              <a:t> </a:t>
            </a:r>
            <a:r>
              <a:rPr lang="en-US" sz="2400" dirty="0" smtClean="0"/>
              <a:t>    A(</a:t>
            </a:r>
            <a:r>
              <a:rPr lang="en-US" sz="2400" dirty="0" err="1" smtClean="0"/>
              <a:t>i</a:t>
            </a:r>
            <a:r>
              <a:rPr lang="en-US" sz="2400" dirty="0"/>
              <a:t>) is the accuracy of </a:t>
            </a:r>
            <a:r>
              <a:rPr lang="en-US" sz="2400" dirty="0" smtClean="0"/>
              <a:t>label predictions </a:t>
            </a:r>
            <a:r>
              <a:rPr lang="en-US" sz="2400" dirty="0"/>
              <a:t>in the sequence up to and including the </a:t>
            </a:r>
            <a:r>
              <a:rPr lang="en-US" sz="2400" dirty="0" err="1" smtClean="0"/>
              <a:t>i</a:t>
            </a:r>
            <a:r>
              <a:rPr lang="en-US" sz="2400" baseline="30000" dirty="0" err="1" smtClean="0"/>
              <a:t>th</a:t>
            </a:r>
            <a:r>
              <a:rPr lang="en-US" sz="2400" dirty="0" smtClean="0"/>
              <a:t> </a:t>
            </a:r>
            <a:r>
              <a:rPr lang="en-US" sz="2400" dirty="0"/>
              <a:t>track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AA acts like a weighted sum </a:t>
            </a:r>
            <a:r>
              <a:rPr lang="en-US" sz="2400" dirty="0" smtClean="0"/>
              <a:t>of accuracy </a:t>
            </a:r>
            <a:r>
              <a:rPr lang="en-US" sz="2400" dirty="0"/>
              <a:t>that places emphasis on correct classifications </a:t>
            </a:r>
            <a:r>
              <a:rPr lang="en-US" sz="2400" dirty="0" smtClean="0"/>
              <a:t>earlier in </a:t>
            </a:r>
            <a:r>
              <a:rPr lang="en-US" sz="2400" dirty="0"/>
              <a:t>the sequence.</a:t>
            </a:r>
            <a:endParaRPr lang="en-US" sz="2400" dirty="0" smtClean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15140" y="6000768"/>
            <a:ext cx="230505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8258204" cy="4983179"/>
          </a:xfrm>
        </p:spPr>
        <p:txBody>
          <a:bodyPr>
            <a:normAutofit/>
          </a:bodyPr>
          <a:lstStyle/>
          <a:p>
            <a:r>
              <a:rPr lang="en-IN" sz="2400" u="sng" dirty="0" smtClean="0"/>
              <a:t>Loss Function </a:t>
            </a:r>
            <a:r>
              <a:rPr lang="en-IN" sz="2400" dirty="0" smtClean="0"/>
              <a:t>– We leveraged two kinds of loss function to train our model, one is binary cross entropy loss and other is experimental cross entropy loss.</a:t>
            </a:r>
          </a:p>
          <a:p>
            <a:r>
              <a:rPr lang="en-US" sz="2400" dirty="0" smtClean="0"/>
              <a:t>An </a:t>
            </a:r>
            <a:r>
              <a:rPr lang="en-US" sz="2400" dirty="0"/>
              <a:t>experimental loss function </a:t>
            </a:r>
            <a:r>
              <a:rPr lang="en-US" sz="2400" dirty="0" smtClean="0"/>
              <a:t>is defined so that we can  combine </a:t>
            </a:r>
            <a:r>
              <a:rPr lang="en-US" sz="2400" dirty="0"/>
              <a:t>aspects of minimizing cross-entropy loss </a:t>
            </a:r>
            <a:r>
              <a:rPr lang="en-US" sz="2400" dirty="0" smtClean="0"/>
              <a:t>while also </a:t>
            </a:r>
            <a:r>
              <a:rPr lang="en-US" sz="2400" dirty="0"/>
              <a:t>maximizing Average </a:t>
            </a:r>
            <a:r>
              <a:rPr lang="en-US" sz="2400" dirty="0" smtClean="0"/>
              <a:t>Accuracy.</a:t>
            </a:r>
            <a:endParaRPr lang="en-US" sz="2400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15140" y="6000768"/>
            <a:ext cx="230505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357158" y="428604"/>
          <a:ext cx="8229600" cy="56845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Method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Validation MAA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Test MAA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LSTM-Cross Entropy Loss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0.5699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0.3549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LSTM-Cross Entropy Loss 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+ MAA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0.5836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0.3982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Bi-LSTM-Cross Entropy Loss</a:t>
                      </a:r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0.5789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0.4041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Bi-LSTM-Cross Entropy Loss 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+ MAA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0.5759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0.4234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Transformer(Traditional</a:t>
                      </a:r>
                      <a:r>
                        <a:rPr lang="en-IN" baseline="0" dirty="0" smtClean="0"/>
                        <a:t> NLP)- </a:t>
                      </a:r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Cross Entropy Loss 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+ MAA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0.3088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0.3136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Transformer(Teacher</a:t>
                      </a:r>
                      <a:r>
                        <a:rPr lang="en-IN" baseline="0" dirty="0" smtClean="0"/>
                        <a:t> Forcing)- </a:t>
                      </a:r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Cross Entropy Loss </a:t>
                      </a:r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0.4708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0.4695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Transformer(Teacher</a:t>
                      </a:r>
                      <a:r>
                        <a:rPr lang="en-IN" baseline="0" dirty="0" smtClean="0"/>
                        <a:t> Forcing)- </a:t>
                      </a:r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Cross Entropy Loss  + MAA</a:t>
                      </a:r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0.4736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0.4580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15140" y="6000768"/>
            <a:ext cx="230505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285728"/>
            <a:ext cx="8329642" cy="5840435"/>
          </a:xfrm>
        </p:spPr>
        <p:txBody>
          <a:bodyPr>
            <a:normAutofit/>
          </a:bodyPr>
          <a:lstStyle/>
          <a:p>
            <a:r>
              <a:rPr lang="en-US" sz="2400" dirty="0"/>
              <a:t>Gradient </a:t>
            </a:r>
            <a:r>
              <a:rPr lang="en-US" sz="2400" dirty="0" smtClean="0"/>
              <a:t>Boosting model </a:t>
            </a:r>
            <a:r>
              <a:rPr lang="en-US" sz="2400" dirty="0"/>
              <a:t>achieves </a:t>
            </a:r>
            <a:r>
              <a:rPr lang="en-US" sz="2400" dirty="0" smtClean="0"/>
              <a:t>0.51620 subset </a:t>
            </a:r>
            <a:r>
              <a:rPr lang="en-US" sz="2400" dirty="0"/>
              <a:t>accuracy on our data</a:t>
            </a:r>
            <a:r>
              <a:rPr lang="en-US" sz="2400" dirty="0" smtClean="0"/>
              <a:t>. Hence, GBT </a:t>
            </a:r>
            <a:r>
              <a:rPr lang="en-US" sz="2400" dirty="0"/>
              <a:t>may be achieving </a:t>
            </a:r>
            <a:r>
              <a:rPr lang="en-US" sz="2400" dirty="0" smtClean="0"/>
              <a:t>around 50</a:t>
            </a:r>
            <a:r>
              <a:rPr lang="en-US" sz="2400" dirty="0"/>
              <a:t>% accuracy due to random guessing about whether a </a:t>
            </a:r>
            <a:r>
              <a:rPr lang="en-US" sz="2400" dirty="0" smtClean="0"/>
              <a:t>track is </a:t>
            </a:r>
            <a:r>
              <a:rPr lang="en-US" sz="2400" dirty="0"/>
              <a:t>skipped or not skipped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LSTM and Bi-LSTMs both </a:t>
            </a:r>
            <a:r>
              <a:rPr lang="en-US" sz="2400" dirty="0" smtClean="0"/>
              <a:t>over fit </a:t>
            </a:r>
            <a:r>
              <a:rPr lang="en-US" sz="2400" dirty="0"/>
              <a:t>to </a:t>
            </a:r>
            <a:r>
              <a:rPr lang="en-US" sz="2400" dirty="0" smtClean="0"/>
              <a:t>the data </a:t>
            </a:r>
            <a:r>
              <a:rPr lang="en-US" sz="2400" dirty="0"/>
              <a:t>since the validation MAA is higher than the test </a:t>
            </a:r>
            <a:r>
              <a:rPr lang="en-US" sz="2400" dirty="0" smtClean="0"/>
              <a:t>MAA, hence hyper parameter tuning is needed like transformer.</a:t>
            </a:r>
          </a:p>
          <a:p>
            <a:r>
              <a:rPr lang="en-US" sz="2400" dirty="0" smtClean="0"/>
              <a:t>In traditional NLP, Transformer </a:t>
            </a:r>
            <a:r>
              <a:rPr lang="en-US" sz="2400" dirty="0"/>
              <a:t>did not help improve </a:t>
            </a:r>
            <a:r>
              <a:rPr lang="en-US" sz="2400" dirty="0" smtClean="0"/>
              <a:t>accuracy, dropping </a:t>
            </a:r>
            <a:r>
              <a:rPr lang="en-US" sz="2400" dirty="0"/>
              <a:t>to an </a:t>
            </a:r>
            <a:r>
              <a:rPr lang="en-US" sz="2400" dirty="0" smtClean="0"/>
              <a:t>accuracy of 30%  </a:t>
            </a:r>
            <a:r>
              <a:rPr lang="en-US" sz="2400" dirty="0"/>
              <a:t>than </a:t>
            </a:r>
            <a:r>
              <a:rPr lang="en-US" sz="2400" dirty="0" smtClean="0"/>
              <a:t>of LSTM which was 57%.</a:t>
            </a:r>
          </a:p>
          <a:p>
            <a:r>
              <a:rPr lang="en-IN" sz="2400" dirty="0" smtClean="0"/>
              <a:t>In feature forcing, </a:t>
            </a:r>
            <a:r>
              <a:rPr lang="en-US" sz="2400" dirty="0" smtClean="0"/>
              <a:t>transformer does </a:t>
            </a:r>
            <a:r>
              <a:rPr lang="en-US" sz="2400" dirty="0"/>
              <a:t>not </a:t>
            </a:r>
            <a:r>
              <a:rPr lang="en-US" sz="2400" dirty="0" smtClean="0"/>
              <a:t>over fit </a:t>
            </a:r>
            <a:r>
              <a:rPr lang="en-US" sz="2400" dirty="0"/>
              <a:t>and achieves a higher accuracy than </a:t>
            </a:r>
            <a:r>
              <a:rPr lang="en-US" sz="2400" dirty="0" smtClean="0"/>
              <a:t>the traditional </a:t>
            </a:r>
            <a:r>
              <a:rPr lang="en-US" sz="2400" dirty="0"/>
              <a:t>NLP transformer, LSTM, and Bi-LSTM models.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15140" y="6000768"/>
            <a:ext cx="230505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smtClean="0"/>
              <a:t>Deployment/Conclusion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428736"/>
            <a:ext cx="8258204" cy="4697427"/>
          </a:xfrm>
        </p:spPr>
        <p:txBody>
          <a:bodyPr>
            <a:normAutofit/>
          </a:bodyPr>
          <a:lstStyle/>
          <a:p>
            <a:r>
              <a:rPr lang="en-US" sz="2400" dirty="0" smtClean="0"/>
              <a:t> Feature forcing transformer gives the best accuracy. </a:t>
            </a:r>
          </a:p>
          <a:p>
            <a:r>
              <a:rPr lang="en-US" sz="2400" dirty="0" smtClean="0"/>
              <a:t>Furthermore, we can </a:t>
            </a:r>
            <a:r>
              <a:rPr lang="en-US" sz="2400" dirty="0"/>
              <a:t>combine </a:t>
            </a:r>
            <a:r>
              <a:rPr lang="en-US" sz="2400" dirty="0" smtClean="0"/>
              <a:t>aspects of </a:t>
            </a:r>
            <a:r>
              <a:rPr lang="en-US" sz="2400" dirty="0"/>
              <a:t>the traditional NLP transformer with the </a:t>
            </a:r>
            <a:r>
              <a:rPr lang="en-US" sz="2400" dirty="0" smtClean="0"/>
              <a:t>feature-forcing transformer </a:t>
            </a:r>
            <a:r>
              <a:rPr lang="en-US" sz="2400" dirty="0"/>
              <a:t>in order to create a better model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Also, </a:t>
            </a:r>
            <a:r>
              <a:rPr lang="en-US" sz="2400" dirty="0"/>
              <a:t>exploring </a:t>
            </a:r>
            <a:r>
              <a:rPr lang="en-US" sz="2400" dirty="0" smtClean="0"/>
              <a:t>variable length </a:t>
            </a:r>
            <a:r>
              <a:rPr lang="en-US" sz="2400" dirty="0"/>
              <a:t>sessions and improved feature analysis </a:t>
            </a:r>
            <a:r>
              <a:rPr lang="en-US" sz="2400" dirty="0" smtClean="0"/>
              <a:t>would help </a:t>
            </a:r>
            <a:r>
              <a:rPr lang="en-US" sz="2400" dirty="0"/>
              <a:t>us better understand and improve our </a:t>
            </a:r>
            <a:r>
              <a:rPr lang="en-US" sz="2400" dirty="0" smtClean="0"/>
              <a:t>model.</a:t>
            </a:r>
            <a:endParaRPr lang="en-US" sz="2400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15140" y="6000768"/>
            <a:ext cx="230505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889</Words>
  <Application>Microsoft Office PowerPoint</Application>
  <PresentationFormat>On-screen Show (4:3)</PresentationFormat>
  <Paragraphs>75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Predict Song Skips on Spotify based on Sequential User and Acoustic Data using NLP Technique </vt:lpstr>
      <vt:lpstr>Brief Introduction</vt:lpstr>
      <vt:lpstr>Steps</vt:lpstr>
      <vt:lpstr>Business Understanding</vt:lpstr>
      <vt:lpstr>Data Understanding</vt:lpstr>
      <vt:lpstr>Data Preparation</vt:lpstr>
      <vt:lpstr>Modelling</vt:lpstr>
      <vt:lpstr>Slide 8</vt:lpstr>
      <vt:lpstr>Evaluation</vt:lpstr>
      <vt:lpstr>Slide 10</vt:lpstr>
      <vt:lpstr>Slide 11</vt:lpstr>
      <vt:lpstr>Slide 12</vt:lpstr>
      <vt:lpstr>Deployment/Conclusion</vt:lpstr>
    </vt:vector>
  </TitlesOfParts>
  <Company>HP Inc.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 Song Skips on Spotify based on Sequential User and Acoustic Data using NLP Technique </dc:title>
  <dc:creator>Shreeja</dc:creator>
  <cp:lastModifiedBy>Shreeja</cp:lastModifiedBy>
  <cp:revision>2</cp:revision>
  <dcterms:created xsi:type="dcterms:W3CDTF">2021-10-04T06:41:57Z</dcterms:created>
  <dcterms:modified xsi:type="dcterms:W3CDTF">2021-10-04T16:27:07Z</dcterms:modified>
</cp:coreProperties>
</file>